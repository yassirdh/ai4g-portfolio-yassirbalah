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Wij zijn Yassir en Akif, en dit is Wegwijs: een tool die een concreet dagplan maakt voor een stad die je niet kent, binnen je budget en in je eigen taal. Gebouwd voor hackathon 3, Equal Access, SDG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Eerst waarom dit ertoe doet. Vrije tijd is ongelijk verdeeld: in 2024 kon 27% van de EU-inwoners zich geen week vakantie veroorloven, in Nederland 13%. En wie wel op pad gaat, heeft ook lokale kennis en taal nodig om er iets van te maken.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Onze doelgroep is concreet: nieuwkomers en internationale studenten in Nederlandse steden. Ze lopen tegen drie dingen aan: geld, lokale kennis en taal. Daarmee sluiten we aan op SDG 10.2, sociale inclusie ongeacht afkomst of inkomen.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 werkt het voor de gebruiker. Links wat je invult: stad, startpunt, budget, tijd, stijl, interesses, taal en mobiliteit. Rechts wat je krijgt: een plan met tijden en kosten, hoe je er komt, een betrouwbaarheidslabel per stap en een Google Maps-link met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Technisch zijn het vijf stappen, en de AI is er maar één van. Eerst checken we de invoer. Dan zoekt Claude met web search naar plekken die echt bestaan. Het antwoord lezen we in als JSON, en daarna controleert onze eigen code budget, bronnen en aantal stappen. Klopt iets niet, dan krijgt het model één herstelpoging; anders tonen we eerlijke waarschuwingen. De Maps-links maken we zelf, zodat de AI die niet kan verzinnen.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Waarom al die controles? Uit onderzoek blijkt dat taalmodellen slecht zijn in plannen. Op de TravelPlanner-benchmark was maar 0,6% van de reisplannen van GPT-4-Turbo helemaal geldig. Met externe controles erbij steeg dat van 4,4 naar 20,6 procent. Dat is precies wat wij ook doen.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opdracht vroeg: wat gebeurt er als de AI een slecht antwoord geeft? Hier zie je per situatie wat Wegwijs doet. Onzin-invoer houden we tegen, budgetfouten rekenen we zelf na, verzonnen plekken worden rood gemarkeerd, en bij kapotte antwoorden of API-fouten krijg je een duidelijke melding in plaats van een crash. Alles is afgedekt met 19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 echte cijfers hebben we zes plannen gemaakt: drie steden, elk in het Nederlands en het Arabisch. Dat gaf 27 stappen, die we allemaal met de hand hebben gecontroleerd in Google Maps. Alles bleef binnen budget en bijna alle bronnen waren geverifieerd. Het grote verschil zit in de gele rij: de Maps-links.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onze belangrijkste bevinding. In Nederlandse plannen bracht 85% van de links je direct naar de goede plek, in Arabische plannen maar 57%. Bij 5 van de 6 mislukte Arabische stappen stond de plaatsnaam in het Arabisch, en die vond Google Maps niet. Juist de mensen die we willen helpen, kregen dus de slechtste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grootste risico: zelfverzekerd fout advies aan mensen die het niet kunnen controleren. Iemand met weinig geld en weinig Nederlands staat dan op het verkeerde station. Daarbovenop presteren taalmodellen slechter in sommige talen. Rechts zie je wat we ertegen doen: web search, eigen controles, rode labels, zelfgebouwde links en een taalwaarschuwing.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Eerlijk is eerlijk: ook met al onze controles ging 8 van de 27 links niet direct naar de goede plek. Wegwijs is dus een startpunt om je dag te plannen, geen garantie. Daarom tonen we ook altijd de waarschuwing om openingstijden en prijzen zelf te checken.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zouden we hierna verbeteren? Eén: de officiële lokale plaatsnaam apart laten teruggeven en daarmee de link bouwen, dat lost het Arabische probleem grotendeels op. Twee: woorden als 'Terug naar' uit de zoekopdracht halen. Drie: groter testen, want 27 stappen is een kleine steekproef.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 je wel. De code staat in onze GitHub-repo en de demo op YouTube. Rechts de bronnen die we hebben gebruikt. Zijn er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YassirDH/ai4g-portfolio-yassirbalah/tree/main/Term%201/Week%203/hackathon" TargetMode="External"/><Relationship Id="rId2" Type="http://schemas.openxmlformats.org/officeDocument/2006/relationships/hyperlink" Target="https://youtu.be/Nc7pork8hK4"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6705600"/>
            <a:ext cx="12192000" cy="152400"/>
          </a:xfrm>
          <a:prstGeom prst="rect">
            <a:avLst/>
          </a:prstGeom>
          <a:solidFill>
            <a:srgbClr val="F2C230"/>
          </a:solidFill>
          <a:ln/>
        </p:spPr>
      </p:sp>
      <p:pic>
        <p:nvPicPr>
          <p:cNvPr id="3" name="Image 0" descr="A route line with four stops">    </p:cNvPr>
          <p:cNvPicPr>
            <a:picLocks noChangeAspect="1"/>
          </p:cNvPicPr>
          <p:nvPr/>
        </p:nvPicPr>
        <p:blipFill>
          <a:blip r:embed="rId1"/>
          <a:srcRect l="0" r="0" t="0" b="0"/>
          <a:stretch/>
        </p:blipFill>
        <p:spPr>
          <a:xfrm>
            <a:off x="10109200" y="1524000"/>
            <a:ext cx="1270000" cy="3810000"/>
          </a:xfrm>
          <a:prstGeom prst="rect">
            <a:avLst/>
          </a:prstGeom>
        </p:spPr>
      </p:pic>
      <p:sp>
        <p:nvSpPr>
          <p:cNvPr id="4"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Public Sans" pitchFamily="34" charset="0"/>
                <a:ea typeface="Public Sans" pitchFamily="34" charset="-122"/>
                <a:cs typeface="Public Sans" pitchFamily="34" charset="-120"/>
              </a:rPr>
              <a:t>HACKATHON 3 · EQUAL ACCESS · SDG 10</a:t>
            </a:r>
            <a:endParaRPr lang="en-US" sz="1200" dirty="0"/>
          </a:p>
        </p:txBody>
      </p:sp>
      <p:sp>
        <p:nvSpPr>
          <p:cNvPr id="5" name="Text 2"/>
          <p:cNvSpPr/>
          <p:nvPr/>
        </p:nvSpPr>
        <p:spPr>
          <a:xfrm>
            <a:off x="812800" y="229362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F6F4EE"/>
                </a:solidFill>
                <a:latin typeface="Space Grotesk" pitchFamily="34" charset="0"/>
                <a:ea typeface="Space Grotesk" pitchFamily="34" charset="-122"/>
                <a:cs typeface="Space Grotesk" pitchFamily="34" charset="-120"/>
              </a:rPr>
              <a:t>Wegwijs</a:t>
            </a:r>
            <a:endParaRPr lang="en-US" sz="10000" dirty="0"/>
          </a:p>
        </p:txBody>
      </p:sp>
      <p:sp>
        <p:nvSpPr>
          <p:cNvPr id="6" name="Text 3"/>
          <p:cNvSpPr/>
          <p:nvPr/>
        </p:nvSpPr>
        <p:spPr>
          <a:xfrm>
            <a:off x="812800" y="3766820"/>
            <a:ext cx="78486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3"/>
                </a:solidFill>
                <a:latin typeface="Public Sans" pitchFamily="34" charset="0"/>
                <a:ea typeface="Public Sans" pitchFamily="34" charset="-122"/>
                <a:cs typeface="Public Sans" pitchFamily="34" charset="-120"/>
              </a:rPr>
              <a:t>A day plan for a city you don’t know — within your budget, in your own language.</a:t>
            </a:r>
            <a:endParaRPr lang="en-US" sz="2200" dirty="0"/>
          </a:p>
        </p:txBody>
      </p:sp>
      <p:sp>
        <p:nvSpPr>
          <p:cNvPr id="7" name="Text 4"/>
          <p:cNvSpPr/>
          <p:nvPr/>
        </p:nvSpPr>
        <p:spPr>
          <a:xfrm>
            <a:off x="812800" y="57607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Public Sans" pitchFamily="34" charset="0"/>
                <a:ea typeface="Public Sans" pitchFamily="34" charset="-122"/>
                <a:cs typeface="Public Sans" pitchFamily="34" charset="-120"/>
              </a:rPr>
              <a:t>Yassir Balah &amp; Akif Olgun · AI for Good · The Hague University of Applied Sciences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Public Sans" pitchFamily="34" charset="0"/>
                <a:ea typeface="Public Sans" pitchFamily="34" charset="-122"/>
                <a:cs typeface="Public Sans" pitchFamily="34" charset="-120"/>
              </a:rPr>
              <a:t>WHY THIS MATTERS</a:t>
            </a:r>
            <a:endParaRPr lang="en-US" sz="1200" dirty="0"/>
          </a:p>
        </p:txBody>
      </p:sp>
      <p:sp>
        <p:nvSpPr>
          <p:cNvPr id="3" name="Text 1"/>
          <p:cNvSpPr/>
          <p:nvPr/>
        </p:nvSpPr>
        <p:spPr>
          <a:xfrm>
            <a:off x="812800" y="1330960"/>
            <a:ext cx="10883392" cy="1803400"/>
          </a:xfrm>
          <a:prstGeom prst="rect">
            <a:avLst/>
          </a:prstGeom>
          <a:noFill/>
          <a:ln/>
        </p:spPr>
        <p:txBody>
          <a:bodyPr wrap="square" lIns="0" tIns="0" rIns="0" bIns="0" rtlCol="0" anchor="t">
            <a:normAutofit/>
          </a:bodyPr>
          <a:lstStyle/>
          <a:p>
            <a:pPr algn="l" indent="0" marL="0">
              <a:lnSpc>
                <a:spcPts val="14000"/>
              </a:lnSpc>
              <a:buNone/>
            </a:pPr>
            <a:r>
              <a:rPr lang="en-US" sz="14000" b="1" dirty="0">
                <a:solidFill>
                  <a:srgbClr val="F2C230"/>
                </a:solidFill>
                <a:latin typeface="Space Grotesk" pitchFamily="34" charset="0"/>
                <a:ea typeface="Space Grotesk" pitchFamily="34" charset="-122"/>
                <a:cs typeface="Space Grotesk" pitchFamily="34" charset="-120"/>
              </a:rPr>
              <a:t>27%</a:t>
            </a:r>
            <a:endParaRPr lang="en-US" sz="14000" dirty="0"/>
          </a:p>
        </p:txBody>
      </p:sp>
      <p:sp>
        <p:nvSpPr>
          <p:cNvPr id="4" name="Text 2"/>
          <p:cNvSpPr/>
          <p:nvPr/>
        </p:nvSpPr>
        <p:spPr>
          <a:xfrm>
            <a:off x="812800" y="326136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Public Sans" pitchFamily="34" charset="0"/>
                <a:ea typeface="Public Sans" pitchFamily="34" charset="-122"/>
                <a:cs typeface="Public Sans" pitchFamily="34" charset="-120"/>
              </a:rPr>
              <a:t>of EU residents could not afford a one-week holiday away from home in 2024. In the Netherlands it was 13.0%.</a:t>
            </a:r>
            <a:endParaRPr lang="en-US" sz="2200" dirty="0"/>
          </a:p>
        </p:txBody>
      </p:sp>
      <p:sp>
        <p:nvSpPr>
          <p:cNvPr id="5" name="Text 3"/>
          <p:cNvSpPr/>
          <p:nvPr/>
        </p:nvSpPr>
        <p:spPr>
          <a:xfrm>
            <a:off x="812800" y="4292600"/>
            <a:ext cx="85026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Public Sans" pitchFamily="34" charset="0"/>
                <a:ea typeface="Public Sans" pitchFamily="34" charset="-122"/>
                <a:cs typeface="Public Sans" pitchFamily="34" charset="-120"/>
              </a:rPr>
              <a:t>Leisure is unequal to begin with. Missing local knowledge and language skills make that gap even bigger.</a:t>
            </a:r>
            <a:endParaRPr lang="en-US" sz="1600" dirty="0"/>
          </a:p>
        </p:txBody>
      </p:sp>
      <p:sp>
        <p:nvSpPr>
          <p:cNvPr id="6" name="Text 4"/>
          <p:cNvSpPr/>
          <p:nvPr/>
        </p:nvSpPr>
        <p:spPr>
          <a:xfrm>
            <a:off x="812800" y="6238241"/>
            <a:ext cx="17299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F"/>
                </a:solidFill>
                <a:latin typeface="Public Sans" pitchFamily="34" charset="0"/>
                <a:ea typeface="Public Sans" pitchFamily="34" charset="-122"/>
                <a:cs typeface="Public Sans" pitchFamily="34" charset="-120"/>
              </a:rPr>
              <a:t>Source: Eurostat (2025)</a:t>
            </a:r>
            <a:endParaRPr lang="en-US" sz="1200" dirty="0"/>
          </a:p>
        </p:txBody>
      </p:sp>
      <p:sp>
        <p:nvSpPr>
          <p:cNvPr id="7" name="Text 5"/>
          <p:cNvSpPr/>
          <p:nvPr/>
        </p:nvSpPr>
        <p:spPr>
          <a:xfrm>
            <a:off x="11288316" y="6238241"/>
            <a:ext cx="1416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F"/>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0"/>
                </a:solidFill>
                <a:latin typeface="Public Sans" pitchFamily="34" charset="0"/>
                <a:ea typeface="Public Sans" pitchFamily="34" charset="-122"/>
                <a:cs typeface="Public Sans" pitchFamily="34" charset="-120"/>
              </a:rPr>
              <a:t>WHO IT’S FOR</a:t>
            </a:r>
            <a:endParaRPr lang="en-US" sz="1200" dirty="0"/>
          </a:p>
        </p:txBody>
      </p:sp>
      <p:sp>
        <p:nvSpPr>
          <p:cNvPr id="3" name="Text 1"/>
          <p:cNvSpPr/>
          <p:nvPr/>
        </p:nvSpPr>
        <p:spPr>
          <a:xfrm>
            <a:off x="812800" y="11277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4213D"/>
                </a:solidFill>
                <a:latin typeface="Space Grotesk" pitchFamily="34" charset="0"/>
                <a:ea typeface="Space Grotesk" pitchFamily="34" charset="-122"/>
                <a:cs typeface="Space Grotesk" pitchFamily="34" charset="-120"/>
              </a:rPr>
              <a:t>Built for newcomers and international students on a small budget</a:t>
            </a:r>
            <a:endParaRPr lang="en-US" sz="3600" dirty="0"/>
          </a:p>
        </p:txBody>
      </p:sp>
      <p:sp>
        <p:nvSpPr>
          <p:cNvPr id="4" name="Shape 2"/>
          <p:cNvSpPr/>
          <p:nvPr/>
        </p:nvSpPr>
        <p:spPr>
          <a:xfrm>
            <a:off x="815975" y="2441575"/>
            <a:ext cx="3380264" cy="1903730"/>
          </a:xfrm>
          <a:prstGeom prst="roundRect">
            <a:avLst>
              <a:gd name="adj" fmla="val 5170"/>
            </a:avLst>
          </a:prstGeom>
          <a:solidFill>
            <a:srgbClr val="FFFCF5"/>
          </a:solidFill>
          <a:ln w="6350">
            <a:solidFill>
              <a:srgbClr val="DDD6C6"/>
            </a:solidFill>
            <a:prstDash val="solid"/>
          </a:ln>
        </p:spPr>
      </p:sp>
      <p:sp>
        <p:nvSpPr>
          <p:cNvPr id="5" name="Text 3"/>
          <p:cNvSpPr/>
          <p:nvPr/>
        </p:nvSpPr>
        <p:spPr>
          <a:xfrm>
            <a:off x="1122680" y="2748280"/>
            <a:ext cx="284985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Money</a:t>
            </a:r>
            <a:endParaRPr lang="en-US" sz="2200" dirty="0"/>
          </a:p>
        </p:txBody>
      </p:sp>
      <p:sp>
        <p:nvSpPr>
          <p:cNvPr id="6" name="Text 4"/>
          <p:cNvSpPr/>
          <p:nvPr/>
        </p:nvSpPr>
        <p:spPr>
          <a:xfrm>
            <a:off x="1122680" y="3185161"/>
            <a:ext cx="284985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No budget for a guide, paid tours or taxis.</a:t>
            </a:r>
            <a:endParaRPr lang="en-US" sz="1600" dirty="0"/>
          </a:p>
        </p:txBody>
      </p:sp>
      <p:sp>
        <p:nvSpPr>
          <p:cNvPr id="7" name="Shape 5"/>
          <p:cNvSpPr/>
          <p:nvPr/>
        </p:nvSpPr>
        <p:spPr>
          <a:xfrm>
            <a:off x="4405789" y="2441575"/>
            <a:ext cx="3380343" cy="1903730"/>
          </a:xfrm>
          <a:prstGeom prst="roundRect">
            <a:avLst>
              <a:gd name="adj" fmla="val 5170"/>
            </a:avLst>
          </a:prstGeom>
          <a:solidFill>
            <a:srgbClr val="FFFCF5"/>
          </a:solidFill>
          <a:ln w="6350">
            <a:solidFill>
              <a:srgbClr val="DDD6C6"/>
            </a:solidFill>
            <a:prstDash val="solid"/>
          </a:ln>
        </p:spPr>
      </p:sp>
      <p:sp>
        <p:nvSpPr>
          <p:cNvPr id="8" name="Text 6"/>
          <p:cNvSpPr/>
          <p:nvPr/>
        </p:nvSpPr>
        <p:spPr>
          <a:xfrm>
            <a:off x="4712494" y="2748280"/>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Local knowledge</a:t>
            </a:r>
            <a:endParaRPr lang="en-US" sz="2200" dirty="0"/>
          </a:p>
        </p:txBody>
      </p:sp>
      <p:sp>
        <p:nvSpPr>
          <p:cNvPr id="9" name="Text 7"/>
          <p:cNvSpPr/>
          <p:nvPr/>
        </p:nvSpPr>
        <p:spPr>
          <a:xfrm>
            <a:off x="4712494" y="3185161"/>
            <a:ext cx="2849941"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They don’t know what is free, cheap or worth seeing.</a:t>
            </a:r>
            <a:endParaRPr lang="en-US" sz="1600" dirty="0"/>
          </a:p>
        </p:txBody>
      </p:sp>
      <p:sp>
        <p:nvSpPr>
          <p:cNvPr id="10" name="Shape 8"/>
          <p:cNvSpPr/>
          <p:nvPr/>
        </p:nvSpPr>
        <p:spPr>
          <a:xfrm>
            <a:off x="7995682" y="2441575"/>
            <a:ext cx="3380343" cy="1903730"/>
          </a:xfrm>
          <a:prstGeom prst="roundRect">
            <a:avLst>
              <a:gd name="adj" fmla="val 5170"/>
            </a:avLst>
          </a:prstGeom>
          <a:solidFill>
            <a:srgbClr val="FFFCF5"/>
          </a:solidFill>
          <a:ln w="6350">
            <a:solidFill>
              <a:srgbClr val="DDD6C6"/>
            </a:solidFill>
            <a:prstDash val="solid"/>
          </a:ln>
        </p:spPr>
      </p:sp>
      <p:sp>
        <p:nvSpPr>
          <p:cNvPr id="11" name="Text 9"/>
          <p:cNvSpPr/>
          <p:nvPr/>
        </p:nvSpPr>
        <p:spPr>
          <a:xfrm>
            <a:off x="8302387" y="2748280"/>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Language</a:t>
            </a:r>
            <a:endParaRPr lang="en-US" sz="2200" dirty="0"/>
          </a:p>
        </p:txBody>
      </p:sp>
      <p:sp>
        <p:nvSpPr>
          <p:cNvPr id="12" name="Text 10"/>
          <p:cNvSpPr/>
          <p:nvPr/>
        </p:nvSpPr>
        <p:spPr>
          <a:xfrm>
            <a:off x="8302387" y="3185161"/>
            <a:ext cx="284994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Opening hours, free days and transport tips are mostly in Dutch.</a:t>
            </a:r>
            <a:endParaRPr lang="en-US" sz="1600" dirty="0"/>
          </a:p>
        </p:txBody>
      </p:sp>
      <p:sp>
        <p:nvSpPr>
          <p:cNvPr id="13" name="Shape 11"/>
          <p:cNvSpPr/>
          <p:nvPr/>
        </p:nvSpPr>
        <p:spPr>
          <a:xfrm>
            <a:off x="812800" y="4653280"/>
            <a:ext cx="10566400" cy="589280"/>
          </a:xfrm>
          <a:prstGeom prst="roundRect">
            <a:avLst>
              <a:gd name="adj" fmla="val 17241"/>
            </a:avLst>
          </a:prstGeom>
          <a:solidFill>
            <a:srgbClr val="14213D"/>
          </a:solidFill>
          <a:ln/>
        </p:spPr>
      </p:sp>
      <p:sp>
        <p:nvSpPr>
          <p:cNvPr id="14" name="Text 12"/>
          <p:cNvSpPr/>
          <p:nvPr/>
        </p:nvSpPr>
        <p:spPr>
          <a:xfrm>
            <a:off x="1016000" y="4805680"/>
            <a:ext cx="10464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Public Sans" pitchFamily="34" charset="0"/>
                <a:ea typeface="Public Sans" pitchFamily="34" charset="-122"/>
                <a:cs typeface="Public Sans" pitchFamily="34" charset="-120"/>
              </a:rPr>
              <a:t>SDG 10.2</a:t>
            </a:r>
            <a:r>
              <a:rPr lang="en-US" sz="1600" dirty="0">
                <a:solidFill>
                  <a:srgbClr val="F6F4EE"/>
                </a:solidFill>
                <a:latin typeface="Public Sans" pitchFamily="34" charset="0"/>
                <a:ea typeface="Public Sans" pitchFamily="34" charset="-122"/>
                <a:cs typeface="Public Sans" pitchFamily="34" charset="-120"/>
              </a:rPr>
              <a:t> — promote the social inclusion of all, irrespective of origin or economic status.</a:t>
            </a:r>
            <a:endParaRPr lang="en-US" sz="1600" dirty="0"/>
          </a:p>
        </p:txBody>
      </p:sp>
      <p:sp>
        <p:nvSpPr>
          <p:cNvPr id="15" name="Text 13"/>
          <p:cNvSpPr/>
          <p:nvPr/>
        </p:nvSpPr>
        <p:spPr>
          <a:xfrm>
            <a:off x="812800" y="6238241"/>
            <a:ext cx="27015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Wegwijs · Hackathon 3: Equal Access</a:t>
            </a:r>
            <a:endParaRPr lang="en-US" sz="1200" dirty="0"/>
          </a:p>
        </p:txBody>
      </p:sp>
      <p:sp>
        <p:nvSpPr>
          <p:cNvPr id="16" name="Text 14"/>
          <p:cNvSpPr/>
          <p:nvPr/>
        </p:nvSpPr>
        <p:spPr>
          <a:xfrm>
            <a:off x="11283156" y="6238241"/>
            <a:ext cx="1468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0"/>
                </a:solidFill>
                <a:latin typeface="Public Sans" pitchFamily="34" charset="0"/>
                <a:ea typeface="Public Sans" pitchFamily="34" charset="-122"/>
                <a:cs typeface="Public Sans" pitchFamily="34" charset="-120"/>
              </a:rPr>
              <a:t>WHAT WEGWIJS DOES</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4213D"/>
                </a:solidFill>
                <a:latin typeface="Space Grotesk" pitchFamily="34" charset="0"/>
                <a:ea typeface="Space Grotesk" pitchFamily="34" charset="-122"/>
                <a:cs typeface="Space Grotesk" pitchFamily="34" charset="-120"/>
              </a:rPr>
              <a:t>From “€10 and 4 hours” to a step-by-step plan</a:t>
            </a:r>
            <a:endParaRPr lang="en-US" sz="3600" dirty="0"/>
          </a:p>
        </p:txBody>
      </p:sp>
      <p:sp>
        <p:nvSpPr>
          <p:cNvPr id="4" name="Shape 2"/>
          <p:cNvSpPr/>
          <p:nvPr/>
        </p:nvSpPr>
        <p:spPr>
          <a:xfrm>
            <a:off x="815975" y="1938655"/>
            <a:ext cx="4875530" cy="2747010"/>
          </a:xfrm>
          <a:prstGeom prst="roundRect">
            <a:avLst>
              <a:gd name="adj" fmla="val 3583"/>
            </a:avLst>
          </a:prstGeom>
          <a:solidFill>
            <a:srgbClr val="FFFCF5"/>
          </a:solidFill>
          <a:ln w="6350">
            <a:solidFill>
              <a:srgbClr val="DDD6C6"/>
            </a:solidFill>
            <a:prstDash val="solid"/>
          </a:ln>
        </p:spPr>
      </p:sp>
      <p:sp>
        <p:nvSpPr>
          <p:cNvPr id="5" name="Text 3"/>
          <p:cNvSpPr/>
          <p:nvPr/>
        </p:nvSpPr>
        <p:spPr>
          <a:xfrm>
            <a:off x="1122680" y="2245361"/>
            <a:ext cx="438998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You enter</a:t>
            </a:r>
            <a:endParaRPr lang="en-US" sz="2200" dirty="0"/>
          </a:p>
        </p:txBody>
      </p:sp>
      <p:sp>
        <p:nvSpPr>
          <p:cNvPr id="6" name="Text 4"/>
          <p:cNvSpPr/>
          <p:nvPr/>
        </p:nvSpPr>
        <p:spPr>
          <a:xfrm>
            <a:off x="1122680" y="2682241"/>
            <a:ext cx="4389984" cy="1163320"/>
          </a:xfrm>
          <a:prstGeom prst="rect">
            <a:avLst/>
          </a:prstGeom>
          <a:noFill/>
          <a:ln/>
        </p:spPr>
        <p:txBody>
          <a:bodyPr wrap="square" lIns="0" tIns="0" rIns="0" bIns="0" rtlCol="0" anchor="t">
            <a:normAutofit/>
          </a:bodyPr>
          <a:lstStyle/>
          <a:p>
            <a:pPr algn="l" marL="243840" indent="-183642">
              <a:lnSpc>
                <a:spcPts val="2240"/>
              </a:lnSpc>
              <a:buSzPct val="100000"/>
              <a:buChar char="•"/>
            </a:pPr>
            <a:r>
              <a:rPr lang="en-US" sz="1600" dirty="0">
                <a:solidFill>
                  <a:srgbClr val="3D4A5C"/>
                </a:solidFill>
                <a:latin typeface="Public Sans" pitchFamily="34" charset="0"/>
                <a:ea typeface="Public Sans" pitchFamily="34" charset="-122"/>
                <a:cs typeface="Public Sans" pitchFamily="34" charset="-120"/>
              </a:rPr>
              <a:t>City and starting point</a:t>
            </a:r>
            <a:endParaRPr lang="en-US" sz="1600" dirty="0"/>
          </a:p>
          <a:p>
            <a:pPr algn="l" marL="243840" indent="-183642">
              <a:lnSpc>
                <a:spcPts val="2240"/>
              </a:lnSpc>
              <a:buSzPct val="100000"/>
              <a:buChar char="•"/>
            </a:pPr>
            <a:r>
              <a:rPr lang="en-US" sz="1600" dirty="0">
                <a:solidFill>
                  <a:srgbClr val="3D4A5C"/>
                </a:solidFill>
                <a:latin typeface="Public Sans" pitchFamily="34" charset="0"/>
                <a:ea typeface="Public Sans" pitchFamily="34" charset="-122"/>
                <a:cs typeface="Public Sans" pitchFamily="34" charset="-120"/>
              </a:rPr>
              <a:t>Budget and available time</a:t>
            </a:r>
            <a:endParaRPr lang="en-US" sz="1600" dirty="0"/>
          </a:p>
          <a:p>
            <a:pPr algn="l" marL="243840" indent="-183642">
              <a:lnSpc>
                <a:spcPts val="2240"/>
              </a:lnSpc>
              <a:buSzPct val="100000"/>
              <a:buChar char="•"/>
            </a:pPr>
            <a:r>
              <a:rPr lang="en-US" sz="1600" dirty="0">
                <a:solidFill>
                  <a:srgbClr val="3D4A5C"/>
                </a:solidFill>
                <a:latin typeface="Public Sans" pitchFamily="34" charset="0"/>
                <a:ea typeface="Public Sans" pitchFamily="34" charset="-122"/>
                <a:cs typeface="Public Sans" pitchFamily="34" charset="-120"/>
              </a:rPr>
              <a:t>Style: cheapest, see a lot, or take it easy</a:t>
            </a:r>
            <a:endParaRPr lang="en-US" sz="1600" dirty="0"/>
          </a:p>
          <a:p>
            <a:pPr algn="l" marL="243840" indent="-183642">
              <a:lnSpc>
                <a:spcPts val="2240"/>
              </a:lnSpc>
              <a:buSzPct val="100000"/>
              <a:buChar char="•"/>
            </a:pPr>
            <a:r>
              <a:rPr lang="en-US" sz="1600" dirty="0">
                <a:solidFill>
                  <a:srgbClr val="3D4A5C"/>
                </a:solidFill>
                <a:latin typeface="Public Sans" pitchFamily="34" charset="0"/>
                <a:ea typeface="Public Sans" pitchFamily="34" charset="-122"/>
                <a:cs typeface="Public Sans" pitchFamily="34" charset="-120"/>
              </a:rPr>
              <a:t>Interests, language and mobility needs</a:t>
            </a:r>
            <a:endParaRPr lang="en-US" sz="1600" dirty="0"/>
          </a:p>
        </p:txBody>
      </p:sp>
      <p:pic>
        <p:nvPicPr>
          <p:cNvPr id="7" name="Image 0" descr="arrow-right">    </p:cNvPr>
          <p:cNvPicPr>
            <a:picLocks noChangeAspect="1"/>
          </p:cNvPicPr>
          <p:nvPr/>
        </p:nvPicPr>
        <p:blipFill>
          <a:blip r:embed="rId1"/>
          <a:srcRect l="0" r="0" t="0" b="0"/>
          <a:stretch/>
        </p:blipFill>
        <p:spPr>
          <a:xfrm>
            <a:off x="5897880" y="3210561"/>
            <a:ext cx="406400" cy="203200"/>
          </a:xfrm>
          <a:prstGeom prst="rect">
            <a:avLst/>
          </a:prstGeom>
        </p:spPr>
      </p:pic>
      <p:sp>
        <p:nvSpPr>
          <p:cNvPr id="8" name="Shape 5"/>
          <p:cNvSpPr/>
          <p:nvPr/>
        </p:nvSpPr>
        <p:spPr>
          <a:xfrm>
            <a:off x="6507480" y="1935480"/>
            <a:ext cx="4871720" cy="2753360"/>
          </a:xfrm>
          <a:prstGeom prst="roundRect">
            <a:avLst>
              <a:gd name="adj" fmla="val 3690"/>
            </a:avLst>
          </a:prstGeom>
          <a:solidFill>
            <a:srgbClr val="14213D"/>
          </a:solidFill>
          <a:ln/>
        </p:spPr>
      </p:sp>
      <p:sp>
        <p:nvSpPr>
          <p:cNvPr id="9" name="Text 6"/>
          <p:cNvSpPr/>
          <p:nvPr/>
        </p:nvSpPr>
        <p:spPr>
          <a:xfrm>
            <a:off x="6812280" y="2240280"/>
            <a:ext cx="438998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Space Grotesk" pitchFamily="34" charset="0"/>
                <a:ea typeface="Space Grotesk" pitchFamily="34" charset="-122"/>
                <a:cs typeface="Space Grotesk" pitchFamily="34" charset="-120"/>
              </a:rPr>
              <a:t>You get</a:t>
            </a:r>
            <a:endParaRPr lang="en-US" sz="2200" dirty="0"/>
          </a:p>
        </p:txBody>
      </p:sp>
      <p:sp>
        <p:nvSpPr>
          <p:cNvPr id="10" name="Text 7"/>
          <p:cNvSpPr/>
          <p:nvPr/>
        </p:nvSpPr>
        <p:spPr>
          <a:xfrm>
            <a:off x="6812280" y="2677161"/>
            <a:ext cx="4389984" cy="1732280"/>
          </a:xfrm>
          <a:prstGeom prst="rect">
            <a:avLst/>
          </a:prstGeom>
          <a:noFill/>
          <a:ln/>
        </p:spPr>
        <p:txBody>
          <a:bodyPr wrap="square" lIns="0" tIns="0" rIns="0" bIns="0" rtlCol="0" anchor="t">
            <a:normAutofit/>
          </a:bodyPr>
          <a:lstStyle/>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A timed plan with the cost of every stop</a:t>
            </a:r>
            <a:endParaRPr lang="en-US" sz="1600" dirty="0"/>
          </a:p>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How to get there: walk, bike or public transport</a:t>
            </a:r>
            <a:endParaRPr lang="en-US" sz="1600" dirty="0"/>
          </a:p>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A confidence label: green, amber or red</a:t>
            </a:r>
            <a:endParaRPr lang="en-US" sz="1600" dirty="0"/>
          </a:p>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A Google Maps link and a route from the previous stop</a:t>
            </a:r>
            <a:endParaRPr lang="en-US" sz="1600" dirty="0"/>
          </a:p>
        </p:txBody>
      </p:sp>
      <p:sp>
        <p:nvSpPr>
          <p:cNvPr id="11" name="Text 8"/>
          <p:cNvSpPr/>
          <p:nvPr/>
        </p:nvSpPr>
        <p:spPr>
          <a:xfrm>
            <a:off x="812800" y="6238239"/>
            <a:ext cx="27015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Wegwijs · Hackathon 3: Equal Access</a:t>
            </a:r>
            <a:endParaRPr lang="en-US" sz="1200" dirty="0"/>
          </a:p>
        </p:txBody>
      </p:sp>
      <p:sp>
        <p:nvSpPr>
          <p:cNvPr id="12" name="Text 9"/>
          <p:cNvSpPr/>
          <p:nvPr/>
        </p:nvSpPr>
        <p:spPr>
          <a:xfrm>
            <a:off x="11283394" y="6238239"/>
            <a:ext cx="1466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0"/>
                </a:solidFill>
                <a:latin typeface="Public Sans" pitchFamily="34" charset="0"/>
                <a:ea typeface="Public Sans" pitchFamily="34" charset="-122"/>
                <a:cs typeface="Public Sans" pitchFamily="34" charset="-120"/>
              </a:rPr>
              <a:t>HOW IT WORKS</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4213D"/>
                </a:solidFill>
                <a:latin typeface="Space Grotesk" pitchFamily="34" charset="0"/>
                <a:ea typeface="Space Grotesk" pitchFamily="34" charset="-122"/>
                <a:cs typeface="Space Grotesk" pitchFamily="34" charset="-120"/>
              </a:rPr>
              <a:t>Five steps — and the AI is only one of them</a:t>
            </a:r>
            <a:endParaRPr lang="en-US" sz="3600" dirty="0"/>
          </a:p>
        </p:txBody>
      </p:sp>
      <p:sp>
        <p:nvSpPr>
          <p:cNvPr id="4" name="Shape 2"/>
          <p:cNvSpPr/>
          <p:nvPr/>
        </p:nvSpPr>
        <p:spPr>
          <a:xfrm>
            <a:off x="815975" y="1938657"/>
            <a:ext cx="1743154" cy="1903730"/>
          </a:xfrm>
          <a:prstGeom prst="roundRect">
            <a:avLst>
              <a:gd name="adj" fmla="val 5646"/>
            </a:avLst>
          </a:prstGeom>
          <a:solidFill>
            <a:srgbClr val="FFFCF5"/>
          </a:solidFill>
          <a:ln w="6350">
            <a:solidFill>
              <a:srgbClr val="DDD6C6"/>
            </a:solidFill>
            <a:prstDash val="solid"/>
          </a:ln>
        </p:spPr>
      </p:sp>
      <p:sp>
        <p:nvSpPr>
          <p:cNvPr id="5" name="Text 3"/>
          <p:cNvSpPr/>
          <p:nvPr/>
        </p:nvSpPr>
        <p:spPr>
          <a:xfrm>
            <a:off x="995680" y="2118361"/>
            <a:ext cx="14345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0"/>
                </a:solidFill>
                <a:latin typeface="Public Sans" pitchFamily="34" charset="0"/>
                <a:ea typeface="Public Sans" pitchFamily="34" charset="-122"/>
                <a:cs typeface="Public Sans" pitchFamily="34" charset="-120"/>
              </a:rPr>
              <a:t>STEP 1</a:t>
            </a:r>
            <a:endParaRPr lang="en-US" sz="1200" dirty="0"/>
          </a:p>
        </p:txBody>
      </p:sp>
      <p:sp>
        <p:nvSpPr>
          <p:cNvPr id="6" name="Text 4"/>
          <p:cNvSpPr/>
          <p:nvPr/>
        </p:nvSpPr>
        <p:spPr>
          <a:xfrm>
            <a:off x="995680" y="2433321"/>
            <a:ext cx="14345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Input check</a:t>
            </a:r>
            <a:endParaRPr lang="en-US" sz="1600" dirty="0"/>
          </a:p>
        </p:txBody>
      </p:sp>
      <p:sp>
        <p:nvSpPr>
          <p:cNvPr id="7" name="Text 5"/>
          <p:cNvSpPr/>
          <p:nvPr/>
        </p:nvSpPr>
        <p:spPr>
          <a:xfrm>
            <a:off x="995680" y="2778761"/>
            <a:ext cx="143454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ublic Sans" pitchFamily="34" charset="0"/>
                <a:ea typeface="Public Sans" pitchFamily="34" charset="-122"/>
                <a:cs typeface="Public Sans" pitchFamily="34" charset="-120"/>
              </a:rPr>
              <a:t>Nonsense input is stopped before any API call.</a:t>
            </a:r>
            <a:endParaRPr lang="en-US" sz="1200" dirty="0"/>
          </a:p>
        </p:txBody>
      </p:sp>
      <p:pic>
        <p:nvPicPr>
          <p:cNvPr id="8" name="Image 0" descr="arrow-right">    </p:cNvPr>
          <p:cNvPicPr>
            <a:picLocks noChangeAspect="1"/>
          </p:cNvPicPr>
          <p:nvPr/>
        </p:nvPicPr>
        <p:blipFill>
          <a:blip r:embed="rId1"/>
          <a:srcRect l="0" r="0" t="0" b="0"/>
          <a:stretch/>
        </p:blipFill>
        <p:spPr>
          <a:xfrm>
            <a:off x="2663904" y="2827021"/>
            <a:ext cx="254000" cy="127000"/>
          </a:xfrm>
          <a:prstGeom prst="rect">
            <a:avLst/>
          </a:prstGeom>
        </p:spPr>
      </p:pic>
      <p:sp>
        <p:nvSpPr>
          <p:cNvPr id="9" name="Shape 6"/>
          <p:cNvSpPr/>
          <p:nvPr/>
        </p:nvSpPr>
        <p:spPr>
          <a:xfrm>
            <a:off x="3019504" y="1935482"/>
            <a:ext cx="1739424" cy="1910080"/>
          </a:xfrm>
          <a:prstGeom prst="roundRect">
            <a:avLst>
              <a:gd name="adj" fmla="val 5841"/>
            </a:avLst>
          </a:prstGeom>
          <a:solidFill>
            <a:srgbClr val="14213D"/>
          </a:solidFill>
          <a:ln/>
        </p:spPr>
      </p:sp>
      <p:sp>
        <p:nvSpPr>
          <p:cNvPr id="10" name="Text 7"/>
          <p:cNvSpPr/>
          <p:nvPr/>
        </p:nvSpPr>
        <p:spPr>
          <a:xfrm>
            <a:off x="3197304" y="2113282"/>
            <a:ext cx="14346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C230"/>
                </a:solidFill>
                <a:latin typeface="Public Sans" pitchFamily="34" charset="0"/>
                <a:ea typeface="Public Sans" pitchFamily="34" charset="-122"/>
                <a:cs typeface="Public Sans" pitchFamily="34" charset="-120"/>
              </a:rPr>
              <a:t>STEP 2</a:t>
            </a:r>
            <a:endParaRPr lang="en-US" sz="1200" dirty="0"/>
          </a:p>
        </p:txBody>
      </p:sp>
      <p:sp>
        <p:nvSpPr>
          <p:cNvPr id="11" name="Text 8"/>
          <p:cNvSpPr/>
          <p:nvPr/>
        </p:nvSpPr>
        <p:spPr>
          <a:xfrm>
            <a:off x="3197304" y="2428239"/>
            <a:ext cx="1434624"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Space Grotesk" pitchFamily="34" charset="0"/>
                <a:ea typeface="Space Grotesk" pitchFamily="34" charset="-122"/>
                <a:cs typeface="Space Grotesk" pitchFamily="34" charset="-120"/>
              </a:rPr>
              <a:t>Claude + web search</a:t>
            </a:r>
            <a:endParaRPr lang="en-US" sz="1600" dirty="0"/>
          </a:p>
        </p:txBody>
      </p:sp>
      <p:sp>
        <p:nvSpPr>
          <p:cNvPr id="12" name="Text 9"/>
          <p:cNvSpPr/>
          <p:nvPr/>
        </p:nvSpPr>
        <p:spPr>
          <a:xfrm>
            <a:off x="3197304" y="3017521"/>
            <a:ext cx="143462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Public Sans" pitchFamily="34" charset="0"/>
                <a:ea typeface="Public Sans" pitchFamily="34" charset="-122"/>
                <a:cs typeface="Public Sans" pitchFamily="34" charset="-120"/>
              </a:rPr>
              <a:t>Up to 5 searches to find places that really exist.</a:t>
            </a:r>
            <a:endParaRPr lang="en-US" sz="1200" dirty="0"/>
          </a:p>
        </p:txBody>
      </p:sp>
      <p:pic>
        <p:nvPicPr>
          <p:cNvPr id="13" name="Image 1" descr="arrow-right">    </p:cNvPr>
          <p:cNvPicPr>
            <a:picLocks noChangeAspect="1"/>
          </p:cNvPicPr>
          <p:nvPr/>
        </p:nvPicPr>
        <p:blipFill>
          <a:blip r:embed="rId2"/>
          <a:srcRect l="0" r="0" t="0" b="0"/>
          <a:stretch/>
        </p:blipFill>
        <p:spPr>
          <a:xfrm>
            <a:off x="4860528" y="2827021"/>
            <a:ext cx="254000" cy="127000"/>
          </a:xfrm>
          <a:prstGeom prst="rect">
            <a:avLst/>
          </a:prstGeom>
        </p:spPr>
      </p:pic>
      <p:sp>
        <p:nvSpPr>
          <p:cNvPr id="14" name="Shape 10"/>
          <p:cNvSpPr/>
          <p:nvPr/>
        </p:nvSpPr>
        <p:spPr>
          <a:xfrm>
            <a:off x="5219303" y="1938657"/>
            <a:ext cx="1743154" cy="1903730"/>
          </a:xfrm>
          <a:prstGeom prst="roundRect">
            <a:avLst>
              <a:gd name="adj" fmla="val 5646"/>
            </a:avLst>
          </a:prstGeom>
          <a:solidFill>
            <a:srgbClr val="FFFCF5"/>
          </a:solidFill>
          <a:ln w="6350">
            <a:solidFill>
              <a:srgbClr val="DDD6C6"/>
            </a:solidFill>
            <a:prstDash val="solid"/>
          </a:ln>
        </p:spPr>
      </p:sp>
      <p:sp>
        <p:nvSpPr>
          <p:cNvPr id="15" name="Text 11"/>
          <p:cNvSpPr/>
          <p:nvPr/>
        </p:nvSpPr>
        <p:spPr>
          <a:xfrm>
            <a:off x="5399008" y="2118361"/>
            <a:ext cx="14345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0"/>
                </a:solidFill>
                <a:latin typeface="Public Sans" pitchFamily="34" charset="0"/>
                <a:ea typeface="Public Sans" pitchFamily="34" charset="-122"/>
                <a:cs typeface="Public Sans" pitchFamily="34" charset="-120"/>
              </a:rPr>
              <a:t>STEP 3</a:t>
            </a:r>
            <a:endParaRPr lang="en-US" sz="1200" dirty="0"/>
          </a:p>
        </p:txBody>
      </p:sp>
      <p:sp>
        <p:nvSpPr>
          <p:cNvPr id="16" name="Text 12"/>
          <p:cNvSpPr/>
          <p:nvPr/>
        </p:nvSpPr>
        <p:spPr>
          <a:xfrm>
            <a:off x="5399008" y="2433321"/>
            <a:ext cx="1434544"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Read the answer</a:t>
            </a:r>
            <a:endParaRPr lang="en-US" sz="1600" dirty="0"/>
          </a:p>
        </p:txBody>
      </p:sp>
      <p:sp>
        <p:nvSpPr>
          <p:cNvPr id="17" name="Text 13"/>
          <p:cNvSpPr/>
          <p:nvPr/>
        </p:nvSpPr>
        <p:spPr>
          <a:xfrm>
            <a:off x="5399008" y="3022600"/>
            <a:ext cx="143454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ublic Sans" pitchFamily="34" charset="0"/>
                <a:ea typeface="Public Sans" pitchFamily="34" charset="-122"/>
                <a:cs typeface="Public Sans" pitchFamily="34" charset="-120"/>
              </a:rPr>
              <a:t>The reply is turned into a structured plan.</a:t>
            </a:r>
            <a:endParaRPr lang="en-US" sz="1200" dirty="0"/>
          </a:p>
        </p:txBody>
      </p:sp>
      <p:pic>
        <p:nvPicPr>
          <p:cNvPr id="18" name="Image 2" descr="arrow-right">    </p:cNvPr>
          <p:cNvPicPr>
            <a:picLocks noChangeAspect="1"/>
          </p:cNvPicPr>
          <p:nvPr/>
        </p:nvPicPr>
        <p:blipFill>
          <a:blip r:embed="rId3"/>
          <a:srcRect l="0" r="0" t="0" b="0"/>
          <a:stretch/>
        </p:blipFill>
        <p:spPr>
          <a:xfrm>
            <a:off x="7067233" y="2827021"/>
            <a:ext cx="254000" cy="127000"/>
          </a:xfrm>
          <a:prstGeom prst="rect">
            <a:avLst/>
          </a:prstGeom>
        </p:spPr>
      </p:pic>
      <p:sp>
        <p:nvSpPr>
          <p:cNvPr id="19" name="Shape 14"/>
          <p:cNvSpPr/>
          <p:nvPr/>
        </p:nvSpPr>
        <p:spPr>
          <a:xfrm>
            <a:off x="7426008" y="1938657"/>
            <a:ext cx="1743234" cy="1903730"/>
          </a:xfrm>
          <a:prstGeom prst="roundRect">
            <a:avLst>
              <a:gd name="adj" fmla="val 5646"/>
            </a:avLst>
          </a:prstGeom>
          <a:solidFill>
            <a:srgbClr val="FFFCF5"/>
          </a:solidFill>
          <a:ln w="6350">
            <a:solidFill>
              <a:srgbClr val="DDD6C6"/>
            </a:solidFill>
            <a:prstDash val="solid"/>
          </a:ln>
        </p:spPr>
      </p:sp>
      <p:sp>
        <p:nvSpPr>
          <p:cNvPr id="20" name="Text 15"/>
          <p:cNvSpPr/>
          <p:nvPr/>
        </p:nvSpPr>
        <p:spPr>
          <a:xfrm>
            <a:off x="7605713" y="2118361"/>
            <a:ext cx="14346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0"/>
                </a:solidFill>
                <a:latin typeface="Public Sans" pitchFamily="34" charset="0"/>
                <a:ea typeface="Public Sans" pitchFamily="34" charset="-122"/>
                <a:cs typeface="Public Sans" pitchFamily="34" charset="-120"/>
              </a:rPr>
              <a:t>STEP 4</a:t>
            </a:r>
            <a:endParaRPr lang="en-US" sz="1200" dirty="0"/>
          </a:p>
        </p:txBody>
      </p:sp>
      <p:sp>
        <p:nvSpPr>
          <p:cNvPr id="21" name="Text 16"/>
          <p:cNvSpPr/>
          <p:nvPr/>
        </p:nvSpPr>
        <p:spPr>
          <a:xfrm>
            <a:off x="7605713" y="2433321"/>
            <a:ext cx="1434624"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Our own checks</a:t>
            </a:r>
            <a:endParaRPr lang="en-US" sz="1600" dirty="0"/>
          </a:p>
        </p:txBody>
      </p:sp>
      <p:sp>
        <p:nvSpPr>
          <p:cNvPr id="22" name="Text 17"/>
          <p:cNvSpPr/>
          <p:nvPr/>
        </p:nvSpPr>
        <p:spPr>
          <a:xfrm>
            <a:off x="7605713" y="3022600"/>
            <a:ext cx="143462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ublic Sans" pitchFamily="34" charset="0"/>
                <a:ea typeface="Public Sans" pitchFamily="34" charset="-122"/>
                <a:cs typeface="Public Sans" pitchFamily="34" charset="-120"/>
              </a:rPr>
              <a:t>Budget, sources, number of stops, duplicates.</a:t>
            </a:r>
            <a:endParaRPr lang="en-US" sz="1200" dirty="0"/>
          </a:p>
        </p:txBody>
      </p:sp>
      <p:pic>
        <p:nvPicPr>
          <p:cNvPr id="23" name="Image 3" descr="arrow-right">    </p:cNvPr>
          <p:cNvPicPr>
            <a:picLocks noChangeAspect="1"/>
          </p:cNvPicPr>
          <p:nvPr/>
        </p:nvPicPr>
        <p:blipFill>
          <a:blip r:embed="rId4"/>
          <a:srcRect l="0" r="0" t="0" b="0"/>
          <a:stretch/>
        </p:blipFill>
        <p:spPr>
          <a:xfrm>
            <a:off x="9274016" y="2827021"/>
            <a:ext cx="254000" cy="127000"/>
          </a:xfrm>
          <a:prstGeom prst="rect">
            <a:avLst/>
          </a:prstGeom>
        </p:spPr>
      </p:pic>
      <p:sp>
        <p:nvSpPr>
          <p:cNvPr id="24" name="Shape 18"/>
          <p:cNvSpPr/>
          <p:nvPr/>
        </p:nvSpPr>
        <p:spPr>
          <a:xfrm>
            <a:off x="9632791" y="1938657"/>
            <a:ext cx="1743234" cy="1903730"/>
          </a:xfrm>
          <a:prstGeom prst="roundRect">
            <a:avLst>
              <a:gd name="adj" fmla="val 5646"/>
            </a:avLst>
          </a:prstGeom>
          <a:solidFill>
            <a:srgbClr val="FFFCF5"/>
          </a:solidFill>
          <a:ln w="6350">
            <a:solidFill>
              <a:srgbClr val="DDD6C6"/>
            </a:solidFill>
            <a:prstDash val="solid"/>
          </a:ln>
        </p:spPr>
      </p:sp>
      <p:sp>
        <p:nvSpPr>
          <p:cNvPr id="25" name="Text 19"/>
          <p:cNvSpPr/>
          <p:nvPr/>
        </p:nvSpPr>
        <p:spPr>
          <a:xfrm>
            <a:off x="9812496" y="2118361"/>
            <a:ext cx="14346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0"/>
                </a:solidFill>
                <a:latin typeface="Public Sans" pitchFamily="34" charset="0"/>
                <a:ea typeface="Public Sans" pitchFamily="34" charset="-122"/>
                <a:cs typeface="Public Sans" pitchFamily="34" charset="-120"/>
              </a:rPr>
              <a:t>STEP 5</a:t>
            </a:r>
            <a:endParaRPr lang="en-US" sz="1200" dirty="0"/>
          </a:p>
        </p:txBody>
      </p:sp>
      <p:sp>
        <p:nvSpPr>
          <p:cNvPr id="26" name="Text 20"/>
          <p:cNvSpPr/>
          <p:nvPr/>
        </p:nvSpPr>
        <p:spPr>
          <a:xfrm>
            <a:off x="9812496" y="2433321"/>
            <a:ext cx="1434624"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Repair or warn</a:t>
            </a:r>
            <a:endParaRPr lang="en-US" sz="1600" dirty="0"/>
          </a:p>
        </p:txBody>
      </p:sp>
      <p:sp>
        <p:nvSpPr>
          <p:cNvPr id="27" name="Text 21"/>
          <p:cNvSpPr/>
          <p:nvPr/>
        </p:nvSpPr>
        <p:spPr>
          <a:xfrm>
            <a:off x="9812496" y="3022600"/>
            <a:ext cx="143462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Public Sans" pitchFamily="34" charset="0"/>
                <a:ea typeface="Public Sans" pitchFamily="34" charset="-122"/>
                <a:cs typeface="Public Sans" pitchFamily="34" charset="-120"/>
              </a:rPr>
              <a:t>One repair attempt, otherwise honest warnings.</a:t>
            </a:r>
            <a:endParaRPr lang="en-US" sz="1200" dirty="0"/>
          </a:p>
        </p:txBody>
      </p:sp>
      <p:sp>
        <p:nvSpPr>
          <p:cNvPr id="28" name="Text 22"/>
          <p:cNvSpPr/>
          <p:nvPr/>
        </p:nvSpPr>
        <p:spPr>
          <a:xfrm>
            <a:off x="812800" y="415036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Google Maps and route links are built by our code, not by the AI — so a link can never be made up.</a:t>
            </a:r>
            <a:endParaRPr lang="en-US" sz="1600" dirty="0"/>
          </a:p>
        </p:txBody>
      </p:sp>
      <p:sp>
        <p:nvSpPr>
          <p:cNvPr id="29" name="Text 23"/>
          <p:cNvSpPr/>
          <p:nvPr/>
        </p:nvSpPr>
        <p:spPr>
          <a:xfrm>
            <a:off x="812800" y="6238239"/>
            <a:ext cx="46289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Python · Claude API with web search · Streamlit · 19 offline tests</a:t>
            </a:r>
            <a:endParaRPr lang="en-US" sz="1200" dirty="0"/>
          </a:p>
        </p:txBody>
      </p:sp>
      <p:sp>
        <p:nvSpPr>
          <p:cNvPr id="30" name="Text 24"/>
          <p:cNvSpPr/>
          <p:nvPr/>
        </p:nvSpPr>
        <p:spPr>
          <a:xfrm>
            <a:off x="11281569" y="6238239"/>
            <a:ext cx="1484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Public Sans" pitchFamily="34" charset="0"/>
                <a:ea typeface="Public Sans" pitchFamily="34" charset="-122"/>
                <a:cs typeface="Public Sans" pitchFamily="34" charset="-120"/>
              </a:rPr>
              <a:t>WHY WE CHECK THE AI</a:t>
            </a:r>
            <a:endParaRPr lang="en-US" sz="1200" dirty="0"/>
          </a:p>
        </p:txBody>
      </p:sp>
      <p:sp>
        <p:nvSpPr>
          <p:cNvPr id="3" name="Text 1"/>
          <p:cNvSpPr/>
          <p:nvPr/>
        </p:nvSpPr>
        <p:spPr>
          <a:xfrm>
            <a:off x="812800" y="11277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F6F4EE"/>
                </a:solidFill>
                <a:latin typeface="Space Grotesk" pitchFamily="34" charset="0"/>
                <a:ea typeface="Space Grotesk" pitchFamily="34" charset="-122"/>
                <a:cs typeface="Space Grotesk" pitchFamily="34" charset="-120"/>
              </a:rPr>
              <a:t>Language models are bad at planning on their own</a:t>
            </a:r>
            <a:endParaRPr lang="en-US" sz="3600" dirty="0"/>
          </a:p>
        </p:txBody>
      </p:sp>
      <p:sp>
        <p:nvSpPr>
          <p:cNvPr id="4" name="Text 2"/>
          <p:cNvSpPr/>
          <p:nvPr/>
        </p:nvSpPr>
        <p:spPr>
          <a:xfrm>
            <a:off x="812800" y="2438400"/>
            <a:ext cx="5023104"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C230"/>
                </a:solidFill>
                <a:latin typeface="Space Grotesk" pitchFamily="34" charset="0"/>
                <a:ea typeface="Space Grotesk" pitchFamily="34" charset="-122"/>
                <a:cs typeface="Space Grotesk" pitchFamily="34" charset="-120"/>
              </a:rPr>
              <a:t>0.6%</a:t>
            </a:r>
            <a:endParaRPr lang="en-US" sz="8000" dirty="0"/>
          </a:p>
        </p:txBody>
      </p:sp>
      <p:sp>
        <p:nvSpPr>
          <p:cNvPr id="5" name="Text 3"/>
          <p:cNvSpPr/>
          <p:nvPr/>
        </p:nvSpPr>
        <p:spPr>
          <a:xfrm>
            <a:off x="812800" y="3606800"/>
            <a:ext cx="502310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Public Sans" pitchFamily="34" charset="0"/>
                <a:ea typeface="Public Sans" pitchFamily="34" charset="-122"/>
                <a:cs typeface="Public Sans" pitchFamily="34" charset="-120"/>
              </a:rPr>
              <a:t>of travel plans made by GPT-4-Turbo were fully valid on the TravelPlanner benchmark.</a:t>
            </a:r>
            <a:endParaRPr lang="en-US" sz="1600" dirty="0"/>
          </a:p>
        </p:txBody>
      </p:sp>
      <p:sp>
        <p:nvSpPr>
          <p:cNvPr id="6" name="Text 4"/>
          <p:cNvSpPr/>
          <p:nvPr/>
        </p:nvSpPr>
        <p:spPr>
          <a:xfrm>
            <a:off x="6502400" y="2438400"/>
            <a:ext cx="5023104"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C230"/>
                </a:solidFill>
                <a:latin typeface="Space Grotesk" pitchFamily="34" charset="0"/>
                <a:ea typeface="Space Grotesk" pitchFamily="34" charset="-122"/>
                <a:cs typeface="Space Grotesk" pitchFamily="34" charset="-120"/>
              </a:rPr>
              <a:t>20.6%</a:t>
            </a:r>
            <a:endParaRPr lang="en-US" sz="8000" dirty="0"/>
          </a:p>
        </p:txBody>
      </p:sp>
      <p:sp>
        <p:nvSpPr>
          <p:cNvPr id="7" name="Text 5"/>
          <p:cNvSpPr/>
          <p:nvPr/>
        </p:nvSpPr>
        <p:spPr>
          <a:xfrm>
            <a:off x="6502400" y="3606800"/>
            <a:ext cx="502310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Public Sans" pitchFamily="34" charset="0"/>
                <a:ea typeface="Public Sans" pitchFamily="34" charset="-122"/>
                <a:cs typeface="Public Sans" pitchFamily="34" charset="-120"/>
              </a:rPr>
              <a:t>pass rate after adding external checks to the model — up from 4.4% without them.</a:t>
            </a:r>
            <a:endParaRPr lang="en-US" sz="1600" dirty="0"/>
          </a:p>
        </p:txBody>
      </p:sp>
      <p:sp>
        <p:nvSpPr>
          <p:cNvPr id="8" name="Text 6"/>
          <p:cNvSpPr/>
          <p:nvPr/>
        </p:nvSpPr>
        <p:spPr>
          <a:xfrm>
            <a:off x="812800" y="6238239"/>
            <a:ext cx="35377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F"/>
                </a:solidFill>
                <a:latin typeface="Public Sans" pitchFamily="34" charset="0"/>
                <a:ea typeface="Public Sans" pitchFamily="34" charset="-122"/>
                <a:cs typeface="Public Sans" pitchFamily="34" charset="-120"/>
              </a:rPr>
              <a:t>Sources: Xie et al. (2024); Gundawar et al. (2024)</a:t>
            </a:r>
            <a:endParaRPr lang="en-US" sz="1200" dirty="0"/>
          </a:p>
        </p:txBody>
      </p:sp>
      <p:sp>
        <p:nvSpPr>
          <p:cNvPr id="9" name="Text 7"/>
          <p:cNvSpPr/>
          <p:nvPr/>
        </p:nvSpPr>
        <p:spPr>
          <a:xfrm>
            <a:off x="11284268" y="6238239"/>
            <a:ext cx="1457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F"/>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0"/>
                </a:solidFill>
                <a:latin typeface="Public Sans" pitchFamily="34" charset="0"/>
                <a:ea typeface="Public Sans" pitchFamily="34" charset="-122"/>
                <a:cs typeface="Public Sans" pitchFamily="34" charset="-120"/>
              </a:rPr>
              <a:t>EDGE CASES</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4213D"/>
                </a:solidFill>
                <a:latin typeface="Space Grotesk" pitchFamily="34" charset="0"/>
                <a:ea typeface="Space Grotesk" pitchFamily="34" charset="-122"/>
                <a:cs typeface="Space Grotesk" pitchFamily="34" charset="-120"/>
              </a:rPr>
              <a:t>What happens when the AI gets it wrong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35482"/>
          <a:ext cx="10566400" cy="3058160"/>
        </p:xfrm>
        <a:graphic>
          <a:graphicData uri="http://schemas.openxmlformats.org/drawingml/2006/table">
            <a:tbl>
              <a:tblPr/>
              <a:tblGrid>
                <a:gridCol w="4437888"/>
                <a:gridCol w="6128512"/>
              </a:tblGrid>
              <a:tr h="436880">
                <a:tc>
                  <a:txBody>
                    <a:bodyPr/>
                    <a:lstStyle/>
                    <a:p>
                      <a:pP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When…</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solidFill>
                      <a:srgbClr val="E4E3E0"/>
                    </a:solidFill>
                  </a:tcPr>
                </a:tc>
                <a:tc>
                  <a:txBody>
                    <a:bodyPr/>
                    <a:lstStyle/>
                    <a:p>
                      <a:pP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Wegwijs…</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solidFill>
                      <a:srgbClr val="E4E3E0"/>
                    </a:solidFill>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Input makes no sense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Stops it before any API call</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The plan goes over budget</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Recomputes the total itself, asks for a repair</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AI invents a place or source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Marks it red and warns the user</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The answer is broken JSON</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One repair attempt, then a clear error</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API key wrong or no internet</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Friendly message instead of a crash</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A less-tested language is chosen</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Shows a warning, suggests checking in English</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bl>
          </a:graphicData>
        </a:graphic>
      </p:graphicFrame>
      <p:sp>
        <p:nvSpPr>
          <p:cNvPr id="5" name="Text 2"/>
          <p:cNvSpPr/>
          <p:nvPr/>
        </p:nvSpPr>
        <p:spPr>
          <a:xfrm>
            <a:off x="812800" y="6238239"/>
            <a:ext cx="45465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All cases are covered by 19 offline tests (tests/test_planner.py)</a:t>
            </a:r>
            <a:endParaRPr lang="en-US" sz="1200" dirty="0"/>
          </a:p>
        </p:txBody>
      </p:sp>
      <p:sp>
        <p:nvSpPr>
          <p:cNvPr id="6" name="Text 3"/>
          <p:cNvSpPr/>
          <p:nvPr/>
        </p:nvSpPr>
        <p:spPr>
          <a:xfrm>
            <a:off x="11287681" y="6238239"/>
            <a:ext cx="1423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0"/>
                </a:solidFill>
                <a:latin typeface="Public Sans" pitchFamily="34" charset="0"/>
                <a:ea typeface="Public Sans" pitchFamily="34" charset="-122"/>
                <a:cs typeface="Public Sans" pitchFamily="34" charset="-120"/>
              </a:rPr>
              <a:t>EVALUATION</a:t>
            </a:r>
            <a:endParaRPr lang="en-US" sz="1200" dirty="0"/>
          </a:p>
        </p:txBody>
      </p:sp>
      <p:sp>
        <p:nvSpPr>
          <p:cNvPr id="3" name="Text 1"/>
          <p:cNvSpPr/>
          <p:nvPr/>
        </p:nvSpPr>
        <p:spPr>
          <a:xfrm>
            <a:off x="812800" y="11277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4213D"/>
                </a:solidFill>
                <a:latin typeface="Space Grotesk" pitchFamily="34" charset="0"/>
                <a:ea typeface="Space Grotesk" pitchFamily="34" charset="-122"/>
                <a:cs typeface="Space Grotesk" pitchFamily="34" charset="-120"/>
              </a:rPr>
              <a:t>3 cities × 2 languages = 27 stops, checked by hand</a:t>
            </a:r>
            <a:endParaRPr lang="en-US" sz="3600" dirty="0"/>
          </a:p>
        </p:txBody>
      </p:sp>
      <p:sp>
        <p:nvSpPr>
          <p:cNvPr id="4" name="Text 2"/>
          <p:cNvSpPr/>
          <p:nvPr/>
        </p:nvSpPr>
        <p:spPr>
          <a:xfrm>
            <a:off x="812800" y="24384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The Hague, Rotterdam and Utrecht · Dutch and Arabic · €10, 4 hours, style “cheapest”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3027682"/>
          <a:ext cx="10566400" cy="2621280"/>
        </p:xfrm>
        <a:graphic>
          <a:graphicData uri="http://schemas.openxmlformats.org/drawingml/2006/table">
            <a:tbl>
              <a:tblPr/>
              <a:tblGrid>
                <a:gridCol w="5917184"/>
                <a:gridCol w="2324608"/>
                <a:gridCol w="2324608"/>
              </a:tblGrid>
              <a:tr h="436880">
                <a:tc>
                  <a:txBody>
                    <a:bodyPr/>
                    <a:lstStyle/>
                    <a:p>
                      <a:pP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Metric</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solidFill>
                      <a:srgbClr val="E4E3E0"/>
                    </a:solidFill>
                  </a:tcPr>
                </a:tc>
                <a:tc>
                  <a:txBody>
                    <a:bodyPr/>
                    <a:lstStyle/>
                    <a:p>
                      <a:pP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Dutch</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solidFill>
                      <a:srgbClr val="E4E3E0"/>
                    </a:solidFill>
                  </a:tcPr>
                </a:tc>
                <a:tc>
                  <a:txBody>
                    <a:bodyPr/>
                    <a:lstStyle/>
                    <a:p>
                      <a:pP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Arabic</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solidFill>
                      <a:srgbClr val="E4E3E0"/>
                    </a:solidFill>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Plans within budget (€10)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3/3</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3/3</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Stops with a verified source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13/13 (100%)</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12/14 (86%)</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Map link led directly to the right place</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solidFill>
                      <a:srgbClr val="F2C230"/>
                    </a:solidFill>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11/13 (85%)</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solidFill>
                      <a:srgbClr val="F2C230"/>
                    </a:solidFill>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8/14 (57%)</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solidFill>
                      <a:srgbClr val="F2C230"/>
                    </a:solidFill>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First answer rejected by our checks</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2/3</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1/3</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Average time per plan</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76 s</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77 s</a:t>
                      </a:r>
                      <a:endParaRPr lang="en-US" sz="1600" dirty="0">
                        <a:latin typeface="Public Sans" charset="0"/>
                        <a:ea typeface="Public Sans" charset="0"/>
                        <a:cs typeface="Public Sans" charset="0"/>
                      </a:endParaRPr>
                    </a:p>
                  </a:txBody>
                  <a:tcPr marL="71120" marR="71120" marT="71120" marB="71120" anchor="t">
                    <a:lnL w="12700" cap="flat" cmpd="sng" algn="ctr">
                      <a:solidFill>
                        <a:srgbClr val="C4C6C7"/>
                      </a:solidFill>
                      <a:prstDash val="solid"/>
                      <a:round/>
                      <a:headEnd type="none" w="med" len="med"/>
                      <a:tailEnd type="none" w="med" len="med"/>
                    </a:lnL>
                    <a:lnR w="12700" cap="flat" cmpd="sng" algn="ctr">
                      <a:solidFill>
                        <a:srgbClr val="C4C6C7"/>
                      </a:solidFill>
                      <a:prstDash val="solid"/>
                      <a:round/>
                      <a:headEnd type="none" w="med" len="med"/>
                      <a:tailEnd type="none" w="med" len="med"/>
                    </a:lnR>
                    <a:lnT w="12700" cap="flat" cmpd="sng" algn="ctr">
                      <a:solidFill>
                        <a:srgbClr val="C4C6C7"/>
                      </a:solidFill>
                      <a:prstDash val="solid"/>
                      <a:round/>
                      <a:headEnd type="none" w="med" len="med"/>
                      <a:tailEnd type="none" w="med" len="med"/>
                    </a:lnT>
                    <a:lnB w="12700" cap="flat" cmpd="sng" algn="ctr">
                      <a:solidFill>
                        <a:srgbClr val="C4C6C7"/>
                      </a:solidFill>
                      <a:prstDash val="solid"/>
                      <a:round/>
                      <a:headEnd type="none" w="med" len="med"/>
                      <a:tailEnd type="none" w="med" len="med"/>
                    </a:lnB>
                  </a:tcPr>
                </a:tc>
              </a:tr>
            </a:tbl>
          </a:graphicData>
        </a:graphic>
      </p:graphicFrame>
      <p:sp>
        <p:nvSpPr>
          <p:cNvPr id="6" name="Text 3"/>
          <p:cNvSpPr/>
          <p:nvPr/>
        </p:nvSpPr>
        <p:spPr>
          <a:xfrm>
            <a:off x="812800" y="6238242"/>
            <a:ext cx="27015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Wegwijs · Hackathon 3: Equal Access</a:t>
            </a:r>
            <a:endParaRPr lang="en-US" sz="1200" dirty="0"/>
          </a:p>
        </p:txBody>
      </p:sp>
      <p:sp>
        <p:nvSpPr>
          <p:cNvPr id="7" name="Text 4"/>
          <p:cNvSpPr/>
          <p:nvPr/>
        </p:nvSpPr>
        <p:spPr>
          <a:xfrm>
            <a:off x="11280458" y="6238242"/>
            <a:ext cx="1495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C23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Public Sans" pitchFamily="34" charset="0"/>
                <a:ea typeface="Public Sans" pitchFamily="34" charset="-122"/>
                <a:cs typeface="Public Sans" pitchFamily="34" charset="-120"/>
              </a:rPr>
              <a:t>THE FINDING THAT MATTERS MOST</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4213D"/>
                </a:solidFill>
                <a:latin typeface="Space Grotesk" pitchFamily="34" charset="0"/>
                <a:ea typeface="Space Grotesk" pitchFamily="34" charset="-122"/>
                <a:cs typeface="Space Grotesk" pitchFamily="34" charset="-120"/>
              </a:rPr>
              <a:t>Map links that led directly to the right place</a:t>
            </a:r>
            <a:endParaRPr lang="en-US" sz="3600" dirty="0"/>
          </a:p>
        </p:txBody>
      </p:sp>
      <p:sp>
        <p:nvSpPr>
          <p:cNvPr id="4" name="Text 2"/>
          <p:cNvSpPr/>
          <p:nvPr/>
        </p:nvSpPr>
        <p:spPr>
          <a:xfrm>
            <a:off x="812800" y="1935479"/>
            <a:ext cx="2561260"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14213D"/>
                </a:solidFill>
                <a:latin typeface="Space Grotesk" pitchFamily="34" charset="0"/>
                <a:ea typeface="Space Grotesk" pitchFamily="34" charset="-122"/>
                <a:cs typeface="Space Grotesk" pitchFamily="34" charset="-120"/>
              </a:rPr>
              <a:t>85%</a:t>
            </a:r>
            <a:endParaRPr lang="en-US" sz="10000" dirty="0"/>
          </a:p>
        </p:txBody>
      </p:sp>
      <p:sp>
        <p:nvSpPr>
          <p:cNvPr id="5" name="Text 3"/>
          <p:cNvSpPr/>
          <p:nvPr/>
        </p:nvSpPr>
        <p:spPr>
          <a:xfrm>
            <a:off x="812800" y="3256279"/>
            <a:ext cx="25612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in Dutch plans</a:t>
            </a:r>
            <a:endParaRPr lang="en-US" sz="1600" dirty="0"/>
          </a:p>
        </p:txBody>
      </p:sp>
      <p:sp>
        <p:nvSpPr>
          <p:cNvPr id="6" name="Text 4"/>
          <p:cNvSpPr/>
          <p:nvPr/>
        </p:nvSpPr>
        <p:spPr>
          <a:xfrm>
            <a:off x="4315460" y="1935479"/>
            <a:ext cx="2485390"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14213D"/>
                </a:solidFill>
                <a:latin typeface="Space Grotesk" pitchFamily="34" charset="0"/>
                <a:ea typeface="Space Grotesk" pitchFamily="34" charset="-122"/>
                <a:cs typeface="Space Grotesk" pitchFamily="34" charset="-120"/>
              </a:rPr>
              <a:t>57%</a:t>
            </a:r>
            <a:endParaRPr lang="en-US" sz="10000" dirty="0"/>
          </a:p>
        </p:txBody>
      </p:sp>
      <p:sp>
        <p:nvSpPr>
          <p:cNvPr id="7" name="Text 5"/>
          <p:cNvSpPr/>
          <p:nvPr/>
        </p:nvSpPr>
        <p:spPr>
          <a:xfrm>
            <a:off x="4315460" y="3256279"/>
            <a:ext cx="248539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in Arabic plans</a:t>
            </a:r>
            <a:endParaRPr lang="en-US" sz="1600" dirty="0"/>
          </a:p>
        </p:txBody>
      </p:sp>
      <p:sp>
        <p:nvSpPr>
          <p:cNvPr id="8" name="Text 6"/>
          <p:cNvSpPr/>
          <p:nvPr/>
        </p:nvSpPr>
        <p:spPr>
          <a:xfrm>
            <a:off x="812800" y="3845564"/>
            <a:ext cx="91567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Public Sans" pitchFamily="34" charset="0"/>
                <a:ea typeface="Public Sans" pitchFamily="34" charset="-122"/>
                <a:cs typeface="Public Sans" pitchFamily="34" charset="-120"/>
              </a:rPr>
              <a:t>5 of the 6 failed Arabic stops had a place name written in Arabic, which Google Maps could not match. The users we most want to help got the worst links.</a:t>
            </a:r>
            <a:endParaRPr lang="en-US" sz="1600" dirty="0"/>
          </a:p>
        </p:txBody>
      </p:sp>
      <p:sp>
        <p:nvSpPr>
          <p:cNvPr id="9" name="Text 7"/>
          <p:cNvSpPr/>
          <p:nvPr/>
        </p:nvSpPr>
        <p:spPr>
          <a:xfrm>
            <a:off x="812800" y="6238242"/>
            <a:ext cx="27015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3420"/>
                </a:solidFill>
                <a:latin typeface="Public Sans" pitchFamily="34" charset="0"/>
                <a:ea typeface="Public Sans" pitchFamily="34" charset="-122"/>
                <a:cs typeface="Public Sans" pitchFamily="34" charset="-120"/>
              </a:rPr>
              <a:t>Wegwijs · Hackathon 3: Equal Access</a:t>
            </a:r>
            <a:endParaRPr lang="en-US" sz="1200" dirty="0"/>
          </a:p>
        </p:txBody>
      </p:sp>
      <p:sp>
        <p:nvSpPr>
          <p:cNvPr id="10" name="Text 8"/>
          <p:cNvSpPr/>
          <p:nvPr/>
        </p:nvSpPr>
        <p:spPr>
          <a:xfrm>
            <a:off x="11283950" y="6238242"/>
            <a:ext cx="1460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3420"/>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0"/>
                </a:solidFill>
                <a:latin typeface="Public Sans" pitchFamily="34" charset="0"/>
                <a:ea typeface="Public Sans" pitchFamily="34" charset="-122"/>
                <a:cs typeface="Public Sans" pitchFamily="34" charset="-120"/>
              </a:rPr>
              <a:t>ETHICAL REFLECTION</a:t>
            </a:r>
            <a:endParaRPr lang="en-US" sz="1200" dirty="0"/>
          </a:p>
        </p:txBody>
      </p:sp>
      <p:sp>
        <p:nvSpPr>
          <p:cNvPr id="3" name="Text 1"/>
          <p:cNvSpPr/>
          <p:nvPr/>
        </p:nvSpPr>
        <p:spPr>
          <a:xfrm>
            <a:off x="812800" y="1127764"/>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4213D"/>
                </a:solidFill>
                <a:latin typeface="Space Grotesk" pitchFamily="34" charset="0"/>
                <a:ea typeface="Space Grotesk" pitchFamily="34" charset="-122"/>
                <a:cs typeface="Space Grotesk" pitchFamily="34" charset="-120"/>
              </a:rPr>
              <a:t>Biggest risk: confident, wrong advice to people who can’t check it</a:t>
            </a:r>
            <a:endParaRPr lang="en-US" sz="3600" dirty="0"/>
          </a:p>
        </p:txBody>
      </p:sp>
      <p:sp>
        <p:nvSpPr>
          <p:cNvPr id="4" name="Shape 2"/>
          <p:cNvSpPr/>
          <p:nvPr/>
        </p:nvSpPr>
        <p:spPr>
          <a:xfrm>
            <a:off x="815975" y="2441575"/>
            <a:ext cx="5180330" cy="2472690"/>
          </a:xfrm>
          <a:prstGeom prst="roundRect">
            <a:avLst>
              <a:gd name="adj" fmla="val 3980"/>
            </a:avLst>
          </a:prstGeom>
          <a:solidFill>
            <a:srgbClr val="FFFCF5"/>
          </a:solidFill>
          <a:ln w="6350">
            <a:solidFill>
              <a:srgbClr val="DDD6C6"/>
            </a:solidFill>
            <a:prstDash val="solid"/>
          </a:ln>
        </p:spPr>
      </p:sp>
      <p:sp>
        <p:nvSpPr>
          <p:cNvPr id="5" name="Text 3"/>
          <p:cNvSpPr/>
          <p:nvPr/>
        </p:nvSpPr>
        <p:spPr>
          <a:xfrm>
            <a:off x="1122680" y="2748279"/>
            <a:ext cx="470392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The risk</a:t>
            </a:r>
            <a:endParaRPr lang="en-US" sz="2200" dirty="0"/>
          </a:p>
        </p:txBody>
      </p:sp>
      <p:sp>
        <p:nvSpPr>
          <p:cNvPr id="6" name="Text 4"/>
          <p:cNvSpPr/>
          <p:nvPr/>
        </p:nvSpPr>
        <p:spPr>
          <a:xfrm>
            <a:off x="1122680" y="3185164"/>
            <a:ext cx="4703928" cy="1447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Someone with little money and little Dutch ends up at the wrong station — or can’t find the place at all. Language adds a second gap: GPT-3.5 Turbo scored about 54 points lower in Hausa than in English (GPT-4o: under 20).</a:t>
            </a:r>
            <a:endParaRPr lang="en-US" sz="1600" dirty="0"/>
          </a:p>
        </p:txBody>
      </p:sp>
      <p:sp>
        <p:nvSpPr>
          <p:cNvPr id="7" name="Shape 5"/>
          <p:cNvSpPr/>
          <p:nvPr/>
        </p:nvSpPr>
        <p:spPr>
          <a:xfrm>
            <a:off x="6202680" y="2438400"/>
            <a:ext cx="5176520" cy="2479040"/>
          </a:xfrm>
          <a:prstGeom prst="roundRect">
            <a:avLst>
              <a:gd name="adj" fmla="val 4098"/>
            </a:avLst>
          </a:prstGeom>
          <a:solidFill>
            <a:srgbClr val="14213D"/>
          </a:solidFill>
          <a:ln/>
        </p:spPr>
      </p:sp>
      <p:sp>
        <p:nvSpPr>
          <p:cNvPr id="8" name="Text 6"/>
          <p:cNvSpPr/>
          <p:nvPr/>
        </p:nvSpPr>
        <p:spPr>
          <a:xfrm>
            <a:off x="6507480" y="2743200"/>
            <a:ext cx="470392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Space Grotesk" pitchFamily="34" charset="0"/>
                <a:ea typeface="Space Grotesk" pitchFamily="34" charset="-122"/>
                <a:cs typeface="Space Grotesk" pitchFamily="34" charset="-120"/>
              </a:rPr>
              <a:t>How we limit it</a:t>
            </a:r>
            <a:endParaRPr lang="en-US" sz="2200" dirty="0"/>
          </a:p>
        </p:txBody>
      </p:sp>
      <p:sp>
        <p:nvSpPr>
          <p:cNvPr id="9" name="Text 7"/>
          <p:cNvSpPr/>
          <p:nvPr/>
        </p:nvSpPr>
        <p:spPr>
          <a:xfrm>
            <a:off x="6507480" y="3180079"/>
            <a:ext cx="4703928" cy="1447800"/>
          </a:xfrm>
          <a:prstGeom prst="rect">
            <a:avLst/>
          </a:prstGeom>
          <a:noFill/>
          <a:ln/>
        </p:spPr>
        <p:txBody>
          <a:bodyPr wrap="square" lIns="0" tIns="0" rIns="0" bIns="0" rtlCol="0" anchor="t">
            <a:normAutofit/>
          </a:bodyPr>
          <a:lstStyle/>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Web search to verify every place</a:t>
            </a:r>
            <a:endParaRPr lang="en-US" sz="1600" dirty="0"/>
          </a:p>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Budget and sources checked by our own code</a:t>
            </a:r>
            <a:endParaRPr lang="en-US" sz="1600" dirty="0"/>
          </a:p>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Unverified stops marked red</a:t>
            </a:r>
            <a:endParaRPr lang="en-US" sz="1600" dirty="0"/>
          </a:p>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Map links built by code, not by the AI</a:t>
            </a:r>
            <a:endParaRPr lang="en-US" sz="1600" dirty="0"/>
          </a:p>
          <a:p>
            <a:pPr algn="l" marL="243840" indent="-183642">
              <a:lnSpc>
                <a:spcPts val="2240"/>
              </a:lnSpc>
              <a:buSzPct val="100000"/>
              <a:buChar char="•"/>
            </a:pPr>
            <a:r>
              <a:rPr lang="en-US" sz="1600" dirty="0">
                <a:solidFill>
                  <a:srgbClr val="C9D3E3"/>
                </a:solidFill>
                <a:latin typeface="Public Sans" pitchFamily="34" charset="0"/>
                <a:ea typeface="Public Sans" pitchFamily="34" charset="-122"/>
                <a:cs typeface="Public Sans" pitchFamily="34" charset="-120"/>
              </a:rPr>
              <a:t>A warning for less-tested languages</a:t>
            </a:r>
            <a:endParaRPr lang="en-US" sz="1600" dirty="0"/>
          </a:p>
        </p:txBody>
      </p:sp>
      <p:sp>
        <p:nvSpPr>
          <p:cNvPr id="10" name="Text 8"/>
          <p:cNvSpPr/>
          <p:nvPr/>
        </p:nvSpPr>
        <p:spPr>
          <a:xfrm>
            <a:off x="812800" y="6238242"/>
            <a:ext cx="32440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Source: OpenAI (2024), GPT-4o System Card</a:t>
            </a:r>
            <a:endParaRPr lang="en-US" sz="1200" dirty="0"/>
          </a:p>
        </p:txBody>
      </p:sp>
      <p:sp>
        <p:nvSpPr>
          <p:cNvPr id="11" name="Text 9"/>
          <p:cNvSpPr/>
          <p:nvPr/>
        </p:nvSpPr>
        <p:spPr>
          <a:xfrm>
            <a:off x="11223863" y="6238242"/>
            <a:ext cx="2061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Public Sans" pitchFamily="34" charset="0"/>
                <a:ea typeface="Public Sans" pitchFamily="34" charset="-122"/>
                <a:cs typeface="Public Sans" pitchFamily="34" charset="-120"/>
              </a:rPr>
              <a:t>OUR HONEST CONCLUSION</a:t>
            </a:r>
            <a:endParaRPr lang="en-US" sz="1200" dirty="0"/>
          </a:p>
        </p:txBody>
      </p:sp>
      <p:sp>
        <p:nvSpPr>
          <p:cNvPr id="3" name="Text 1"/>
          <p:cNvSpPr/>
          <p:nvPr/>
        </p:nvSpPr>
        <p:spPr>
          <a:xfrm>
            <a:off x="812800" y="1330964"/>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2C230"/>
                </a:solidFill>
                <a:latin typeface="Space Grotesk" pitchFamily="34" charset="0"/>
                <a:ea typeface="Space Grotesk" pitchFamily="34" charset="-122"/>
                <a:cs typeface="Space Grotesk" pitchFamily="34" charset="-120"/>
              </a:rPr>
              <a:t>8 of 27</a:t>
            </a:r>
            <a:endParaRPr lang="en-US" sz="10000" dirty="0"/>
          </a:p>
        </p:txBody>
      </p:sp>
      <p:sp>
        <p:nvSpPr>
          <p:cNvPr id="4" name="Text 2"/>
          <p:cNvSpPr/>
          <p:nvPr/>
        </p:nvSpPr>
        <p:spPr>
          <a:xfrm>
            <a:off x="812800" y="2753364"/>
            <a:ext cx="91567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Public Sans" pitchFamily="34" charset="0"/>
                <a:ea typeface="Public Sans" pitchFamily="34" charset="-122"/>
                <a:cs typeface="Public Sans" pitchFamily="34" charset="-120"/>
              </a:rPr>
              <a:t>map links in our test did not lead directly to the right place — even with all our checks.</a:t>
            </a:r>
            <a:endParaRPr lang="en-US" sz="2200" dirty="0"/>
          </a:p>
        </p:txBody>
      </p:sp>
      <p:sp>
        <p:nvSpPr>
          <p:cNvPr id="5" name="Text 3"/>
          <p:cNvSpPr/>
          <p:nvPr/>
        </p:nvSpPr>
        <p:spPr>
          <a:xfrm>
            <a:off x="812800" y="378460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F6F4EE"/>
                </a:solidFill>
                <a:latin typeface="Space Grotesk" pitchFamily="34" charset="0"/>
                <a:ea typeface="Space Grotesk" pitchFamily="34" charset="-122"/>
                <a:cs typeface="Space Grotesk" pitchFamily="34" charset="-120"/>
              </a:rPr>
              <a:t>Wegwijs is a starting point for planning, not a guarantee.</a:t>
            </a:r>
            <a:endParaRPr lang="en-US" sz="3600" dirty="0"/>
          </a:p>
        </p:txBody>
      </p:sp>
      <p:sp>
        <p:nvSpPr>
          <p:cNvPr id="6" name="Text 4"/>
          <p:cNvSpPr/>
          <p:nvPr/>
        </p:nvSpPr>
        <p:spPr>
          <a:xfrm>
            <a:off x="812800" y="6238242"/>
            <a:ext cx="27015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F"/>
                </a:solidFill>
                <a:latin typeface="Public Sans" pitchFamily="34" charset="0"/>
                <a:ea typeface="Public Sans" pitchFamily="34" charset="-122"/>
                <a:cs typeface="Public Sans" pitchFamily="34" charset="-120"/>
              </a:rPr>
              <a:t>Wegwijs · Hackathon 3: Equal Access</a:t>
            </a:r>
            <a:endParaRPr lang="en-US" sz="1200" dirty="0"/>
          </a:p>
        </p:txBody>
      </p:sp>
      <p:sp>
        <p:nvSpPr>
          <p:cNvPr id="7" name="Text 5"/>
          <p:cNvSpPr/>
          <p:nvPr/>
        </p:nvSpPr>
        <p:spPr>
          <a:xfrm>
            <a:off x="11255137" y="6238242"/>
            <a:ext cx="1748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F"/>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0"/>
                </a:solidFill>
                <a:latin typeface="Public Sans" pitchFamily="34" charset="0"/>
                <a:ea typeface="Public Sans" pitchFamily="34" charset="-122"/>
                <a:cs typeface="Public Sans" pitchFamily="34" charset="-120"/>
              </a:rPr>
              <a:t>NEXT STEPS</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4213D"/>
                </a:solidFill>
                <a:latin typeface="Space Grotesk" pitchFamily="34" charset="0"/>
                <a:ea typeface="Space Grotesk" pitchFamily="34" charset="-122"/>
                <a:cs typeface="Space Grotesk" pitchFamily="34" charset="-120"/>
              </a:rPr>
              <a:t>Three things we would improve next</a:t>
            </a:r>
            <a:endParaRPr lang="en-US" sz="3600" dirty="0"/>
          </a:p>
        </p:txBody>
      </p:sp>
      <p:sp>
        <p:nvSpPr>
          <p:cNvPr id="4" name="Shape 2"/>
          <p:cNvSpPr/>
          <p:nvPr/>
        </p:nvSpPr>
        <p:spPr>
          <a:xfrm>
            <a:off x="815975" y="1938654"/>
            <a:ext cx="3380264" cy="2239010"/>
          </a:xfrm>
          <a:prstGeom prst="roundRect">
            <a:avLst>
              <a:gd name="adj" fmla="val 4396"/>
            </a:avLst>
          </a:prstGeom>
          <a:solidFill>
            <a:srgbClr val="FFFCF5"/>
          </a:solidFill>
          <a:ln w="6350">
            <a:solidFill>
              <a:srgbClr val="DDD6C6"/>
            </a:solidFill>
            <a:prstDash val="solid"/>
          </a:ln>
        </p:spPr>
      </p:sp>
      <p:sp>
        <p:nvSpPr>
          <p:cNvPr id="5" name="Text 3"/>
          <p:cNvSpPr/>
          <p:nvPr/>
        </p:nvSpPr>
        <p:spPr>
          <a:xfrm>
            <a:off x="1122680" y="2245364"/>
            <a:ext cx="284985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Local place names</a:t>
            </a:r>
            <a:endParaRPr lang="en-US" sz="2200" dirty="0"/>
          </a:p>
        </p:txBody>
      </p:sp>
      <p:sp>
        <p:nvSpPr>
          <p:cNvPr id="6" name="Text 4"/>
          <p:cNvSpPr/>
          <p:nvPr/>
        </p:nvSpPr>
        <p:spPr>
          <a:xfrm>
            <a:off x="1122680" y="2682242"/>
            <a:ext cx="2849859"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Have the model return the official local name separately, and build the map link from that.</a:t>
            </a:r>
            <a:endParaRPr lang="en-US" sz="1600" dirty="0"/>
          </a:p>
        </p:txBody>
      </p:sp>
      <p:sp>
        <p:nvSpPr>
          <p:cNvPr id="7" name="Shape 5"/>
          <p:cNvSpPr/>
          <p:nvPr/>
        </p:nvSpPr>
        <p:spPr>
          <a:xfrm>
            <a:off x="4405789" y="1938654"/>
            <a:ext cx="3380343" cy="2239010"/>
          </a:xfrm>
          <a:prstGeom prst="roundRect">
            <a:avLst>
              <a:gd name="adj" fmla="val 4396"/>
            </a:avLst>
          </a:prstGeom>
          <a:solidFill>
            <a:srgbClr val="FFFCF5"/>
          </a:solidFill>
          <a:ln w="6350">
            <a:solidFill>
              <a:srgbClr val="DDD6C6"/>
            </a:solidFill>
            <a:prstDash val="solid"/>
          </a:ln>
        </p:spPr>
      </p:sp>
      <p:sp>
        <p:nvSpPr>
          <p:cNvPr id="8" name="Text 6"/>
          <p:cNvSpPr/>
          <p:nvPr/>
        </p:nvSpPr>
        <p:spPr>
          <a:xfrm>
            <a:off x="4712494" y="2245364"/>
            <a:ext cx="2849941"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Cleaner map searches</a:t>
            </a:r>
            <a:endParaRPr lang="en-US" sz="2200" dirty="0"/>
          </a:p>
        </p:txBody>
      </p:sp>
      <p:sp>
        <p:nvSpPr>
          <p:cNvPr id="9" name="Text 7"/>
          <p:cNvSpPr/>
          <p:nvPr/>
        </p:nvSpPr>
        <p:spPr>
          <a:xfrm>
            <a:off x="4712494" y="3017521"/>
            <a:ext cx="284994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Remove phrases like “Terug naar” from the query, so Maps finds one exact place.</a:t>
            </a:r>
            <a:endParaRPr lang="en-US" sz="1600" dirty="0"/>
          </a:p>
        </p:txBody>
      </p:sp>
      <p:sp>
        <p:nvSpPr>
          <p:cNvPr id="10" name="Shape 8"/>
          <p:cNvSpPr/>
          <p:nvPr/>
        </p:nvSpPr>
        <p:spPr>
          <a:xfrm>
            <a:off x="7995682" y="1938654"/>
            <a:ext cx="3380343" cy="2239010"/>
          </a:xfrm>
          <a:prstGeom prst="roundRect">
            <a:avLst>
              <a:gd name="adj" fmla="val 4396"/>
            </a:avLst>
          </a:prstGeom>
          <a:solidFill>
            <a:srgbClr val="FFFCF5"/>
          </a:solidFill>
          <a:ln w="6350">
            <a:solidFill>
              <a:srgbClr val="DDD6C6"/>
            </a:solidFill>
            <a:prstDash val="solid"/>
          </a:ln>
        </p:spPr>
      </p:sp>
      <p:sp>
        <p:nvSpPr>
          <p:cNvPr id="11" name="Text 9"/>
          <p:cNvSpPr/>
          <p:nvPr/>
        </p:nvSpPr>
        <p:spPr>
          <a:xfrm>
            <a:off x="8302387" y="2245364"/>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A bigger test</a:t>
            </a:r>
            <a:endParaRPr lang="en-US" sz="2200" dirty="0"/>
          </a:p>
        </p:txBody>
      </p:sp>
      <p:sp>
        <p:nvSpPr>
          <p:cNvPr id="12" name="Text 10"/>
          <p:cNvSpPr/>
          <p:nvPr/>
        </p:nvSpPr>
        <p:spPr>
          <a:xfrm>
            <a:off x="8302387" y="2682242"/>
            <a:ext cx="284994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Public Sans" pitchFamily="34" charset="0"/>
                <a:ea typeface="Public Sans" pitchFamily="34" charset="-122"/>
                <a:cs typeface="Public Sans" pitchFamily="34" charset="-120"/>
              </a:rPr>
              <a:t>More cities, more languages and repeated runs. 27 stops is a small sample.</a:t>
            </a:r>
            <a:endParaRPr lang="en-US" sz="1600" dirty="0"/>
          </a:p>
        </p:txBody>
      </p:sp>
      <p:sp>
        <p:nvSpPr>
          <p:cNvPr id="13" name="Text 11"/>
          <p:cNvSpPr/>
          <p:nvPr/>
        </p:nvSpPr>
        <p:spPr>
          <a:xfrm>
            <a:off x="812800" y="6238242"/>
            <a:ext cx="27015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Wegwijs · Hackathon 3: Equal Access</a:t>
            </a:r>
            <a:endParaRPr lang="en-US" sz="1200" dirty="0"/>
          </a:p>
        </p:txBody>
      </p:sp>
      <p:sp>
        <p:nvSpPr>
          <p:cNvPr id="14" name="Text 12"/>
          <p:cNvSpPr/>
          <p:nvPr/>
        </p:nvSpPr>
        <p:spPr>
          <a:xfrm>
            <a:off x="11226324" y="6238242"/>
            <a:ext cx="2036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5"/>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Public Sans" pitchFamily="34" charset="0"/>
                <a:ea typeface="Public Sans" pitchFamily="34" charset="-122"/>
                <a:cs typeface="Public Sans" pitchFamily="34" charset="-120"/>
              </a:rPr>
              <a:t>THANK YOU</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F6F4EE"/>
                </a:solidFill>
                <a:latin typeface="Space Grotesk" pitchFamily="34" charset="0"/>
                <a:ea typeface="Space Grotesk" pitchFamily="34" charset="-122"/>
                <a:cs typeface="Space Grotesk" pitchFamily="34" charset="-120"/>
              </a:rPr>
              <a:t>Questions?</a:t>
            </a:r>
            <a:endParaRPr lang="en-US" sz="3600" dirty="0"/>
          </a:p>
        </p:txBody>
      </p:sp>
      <p:sp>
        <p:nvSpPr>
          <p:cNvPr id="4" name="Text 2"/>
          <p:cNvSpPr/>
          <p:nvPr/>
        </p:nvSpPr>
        <p:spPr>
          <a:xfrm>
            <a:off x="812800" y="1935479"/>
            <a:ext cx="402486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Space Grotesk" pitchFamily="34" charset="0"/>
                <a:ea typeface="Space Grotesk" pitchFamily="34" charset="-122"/>
                <a:cs typeface="Space Grotesk" pitchFamily="34" charset="-120"/>
              </a:rPr>
              <a:t>Code and demo</a:t>
            </a:r>
            <a:endParaRPr lang="en-US" sz="2200" dirty="0"/>
          </a:p>
        </p:txBody>
      </p:sp>
      <p:sp>
        <p:nvSpPr>
          <p:cNvPr id="5" name="Text 3"/>
          <p:cNvSpPr/>
          <p:nvPr/>
        </p:nvSpPr>
        <p:spPr>
          <a:xfrm>
            <a:off x="812800" y="2423164"/>
            <a:ext cx="4024860" cy="675640"/>
          </a:xfrm>
          <a:prstGeom prst="rect">
            <a:avLst/>
          </a:prstGeom>
          <a:noFill/>
          <a:ln/>
        </p:spPr>
        <p:txBody>
          <a:bodyPr wrap="square" lIns="0" tIns="0" rIns="0" bIns="0" rtlCol="0" anchor="t">
            <a:normAutofit/>
          </a:bodyPr>
          <a:lstStyle/>
          <a:p>
            <a:pPr algn="l" indent="0" marL="0">
              <a:lnSpc>
                <a:spcPts val="2560"/>
              </a:lnSpc>
              <a:buNone/>
            </a:pPr>
            <a:r>
              <a:rPr lang="en-US" sz="1600" u="sng" dirty="0">
                <a:solidFill>
                  <a:srgbClr val="C9D3E3"/>
                </a:solidFill>
                <a:latin typeface="Public Sans" pitchFamily="34" charset="0"/>
                <a:ea typeface="Public Sans" pitchFamily="34" charset="-122"/>
                <a:cs typeface="Public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 repository</a:t>
            </a:r>
            <a:endParaRPr lang="en-US" sz="1600" dirty="0"/>
          </a:p>
          <a:p>
            <a:pPr algn="l" indent="0" marL="0">
              <a:lnSpc>
                <a:spcPts val="2560"/>
              </a:lnSpc>
              <a:buNone/>
            </a:pPr>
            <a:r>
              <a:rPr lang="en-US" sz="1600" u="sng" dirty="0">
                <a:solidFill>
                  <a:srgbClr val="C9D3E3"/>
                </a:solidFill>
                <a:latin typeface="Public Sans" pitchFamily="34" charset="0"/>
                <a:ea typeface="Public Sans" pitchFamily="34" charset="-122"/>
                <a:cs typeface="Public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Demo video on YouTube</a:t>
            </a:r>
            <a:endParaRPr lang="en-US" sz="1600" dirty="0"/>
          </a:p>
        </p:txBody>
      </p:sp>
      <p:sp>
        <p:nvSpPr>
          <p:cNvPr id="6" name="Text 4"/>
          <p:cNvSpPr/>
          <p:nvPr/>
        </p:nvSpPr>
        <p:spPr>
          <a:xfrm>
            <a:off x="5126831" y="1935479"/>
            <a:ext cx="643994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4EE"/>
                </a:solidFill>
                <a:latin typeface="Space Grotesk" pitchFamily="34" charset="0"/>
                <a:ea typeface="Space Grotesk" pitchFamily="34" charset="-122"/>
                <a:cs typeface="Space Grotesk" pitchFamily="34" charset="-120"/>
              </a:rPr>
              <a:t>Sources</a:t>
            </a:r>
            <a:endParaRPr lang="en-US" sz="2200" dirty="0"/>
          </a:p>
        </p:txBody>
      </p:sp>
      <p:sp>
        <p:nvSpPr>
          <p:cNvPr id="7" name="Text 5"/>
          <p:cNvSpPr/>
          <p:nvPr/>
        </p:nvSpPr>
        <p:spPr>
          <a:xfrm>
            <a:off x="5126831" y="2423164"/>
            <a:ext cx="6439940" cy="1625600"/>
          </a:xfrm>
          <a:prstGeom prst="rect">
            <a:avLst/>
          </a:prstGeom>
          <a:noFill/>
          <a:ln/>
        </p:spPr>
        <p:txBody>
          <a:bodyPr wrap="square" lIns="0" tIns="0" rIns="0" bIns="0" rtlCol="0" anchor="t">
            <a:normAutofit/>
          </a:bodyPr>
          <a:lstStyle/>
          <a:p>
            <a:pPr algn="l" marL="182880" indent="-148844">
              <a:lnSpc>
                <a:spcPts val="1800"/>
              </a:lnSpc>
              <a:buSzPct val="100000"/>
              <a:buChar char="•"/>
            </a:pPr>
            <a:r>
              <a:rPr lang="en-US" sz="1200" dirty="0">
                <a:solidFill>
                  <a:srgbClr val="C9D3E3"/>
                </a:solidFill>
                <a:latin typeface="Public Sans" pitchFamily="34" charset="0"/>
                <a:ea typeface="Public Sans" pitchFamily="34" charset="-122"/>
                <a:cs typeface="Public Sans" pitchFamily="34" charset="-120"/>
              </a:rPr>
              <a:t>Eurostat (2025). 27% of Europeans could not afford a week-long holiday.</a:t>
            </a:r>
            <a:endParaRPr lang="en-US" sz="1200" dirty="0"/>
          </a:p>
          <a:p>
            <a:pPr algn="l" marL="182880" indent="-148844">
              <a:lnSpc>
                <a:spcPts val="1800"/>
              </a:lnSpc>
              <a:buSzPct val="100000"/>
              <a:buChar char="•"/>
            </a:pPr>
            <a:r>
              <a:rPr lang="en-US" sz="1200" dirty="0">
                <a:solidFill>
                  <a:srgbClr val="C9D3E3"/>
                </a:solidFill>
                <a:latin typeface="Public Sans" pitchFamily="34" charset="0"/>
                <a:ea typeface="Public Sans" pitchFamily="34" charset="-122"/>
                <a:cs typeface="Public Sans" pitchFamily="34" charset="-120"/>
              </a:rPr>
              <a:t>Xie, J. et al. (2024). TravelPlanner: A Benchmark for Real-World Planning with Language Agents. ICML.</a:t>
            </a:r>
            <a:endParaRPr lang="en-US" sz="1200" dirty="0"/>
          </a:p>
          <a:p>
            <a:pPr algn="l" marL="182880" indent="-148844">
              <a:lnSpc>
                <a:spcPts val="1800"/>
              </a:lnSpc>
              <a:buSzPct val="100000"/>
              <a:buChar char="•"/>
            </a:pPr>
            <a:r>
              <a:rPr lang="en-US" sz="1200" dirty="0">
                <a:solidFill>
                  <a:srgbClr val="C9D3E3"/>
                </a:solidFill>
                <a:latin typeface="Public Sans" pitchFamily="34" charset="0"/>
                <a:ea typeface="Public Sans" pitchFamily="34" charset="-122"/>
                <a:cs typeface="Public Sans" pitchFamily="34" charset="-120"/>
              </a:rPr>
              <a:t>Gundawar, A. et al. (2024). Robust Planning with LLM-Modulo Framework: Case Study in Travel Planning.</a:t>
            </a:r>
            <a:endParaRPr lang="en-US" sz="1200" dirty="0"/>
          </a:p>
          <a:p>
            <a:pPr algn="l" marL="182880" indent="-148844">
              <a:lnSpc>
                <a:spcPts val="1800"/>
              </a:lnSpc>
              <a:buSzPct val="100000"/>
              <a:buChar char="•"/>
            </a:pPr>
            <a:r>
              <a:rPr lang="en-US" sz="1200" dirty="0">
                <a:solidFill>
                  <a:srgbClr val="C9D3E3"/>
                </a:solidFill>
                <a:latin typeface="Public Sans" pitchFamily="34" charset="0"/>
                <a:ea typeface="Public Sans" pitchFamily="34" charset="-122"/>
                <a:cs typeface="Public Sans" pitchFamily="34" charset="-120"/>
              </a:rPr>
              <a:t>OpenAI (2024). GPT-4o System Card.</a:t>
            </a:r>
            <a:endParaRPr lang="en-US" sz="1200" dirty="0"/>
          </a:p>
          <a:p>
            <a:pPr algn="l" marL="182880" indent="-148844">
              <a:lnSpc>
                <a:spcPts val="1800"/>
              </a:lnSpc>
              <a:buSzPct val="100000"/>
              <a:buChar char="•"/>
            </a:pPr>
            <a:r>
              <a:rPr lang="en-US" sz="1200" dirty="0">
                <a:solidFill>
                  <a:srgbClr val="C9D3E3"/>
                </a:solidFill>
                <a:latin typeface="Public Sans" pitchFamily="34" charset="0"/>
                <a:ea typeface="Public Sans" pitchFamily="34" charset="-122"/>
                <a:cs typeface="Public Sans" pitchFamily="34" charset="-120"/>
              </a:rPr>
              <a:t>Anthropic. Web search tool documentation.</a:t>
            </a:r>
            <a:endParaRPr lang="en-US" sz="1200" dirty="0"/>
          </a:p>
        </p:txBody>
      </p:sp>
      <p:sp>
        <p:nvSpPr>
          <p:cNvPr id="8" name="Text 6"/>
          <p:cNvSpPr/>
          <p:nvPr/>
        </p:nvSpPr>
        <p:spPr>
          <a:xfrm>
            <a:off x="812800" y="6238242"/>
            <a:ext cx="27015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F"/>
                </a:solidFill>
                <a:latin typeface="Public Sans" pitchFamily="34" charset="0"/>
                <a:ea typeface="Public Sans" pitchFamily="34" charset="-122"/>
                <a:cs typeface="Public Sans" pitchFamily="34" charset="-120"/>
              </a:rPr>
              <a:t>Wegwijs · Hackathon 3: Equal Access</a:t>
            </a:r>
            <a:endParaRPr lang="en-US" sz="1200" dirty="0"/>
          </a:p>
        </p:txBody>
      </p:sp>
      <p:sp>
        <p:nvSpPr>
          <p:cNvPr id="9" name="Text 7"/>
          <p:cNvSpPr/>
          <p:nvPr/>
        </p:nvSpPr>
        <p:spPr>
          <a:xfrm>
            <a:off x="11221085" y="6238242"/>
            <a:ext cx="2089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F"/>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Wegwijs – Hackathon 3: Equal Access</dc:title>
  <dc:subject>PptxGenJS Presentation</dc:subject>
  <dc:creator>PptxGenJS</dc:creator>
  <cp:lastModifiedBy>PptxGenJS</cp:lastModifiedBy>
  <cp:revision>1</cp:revision>
  <dcterms:created xsi:type="dcterms:W3CDTF">2026-09-24T09:24:48Z</dcterms:created>
  <dcterms:modified xsi:type="dcterms:W3CDTF">2026-09-24T09:24:48Z</dcterms:modified>
</cp:coreProperties>
</file>